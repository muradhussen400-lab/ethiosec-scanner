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 type="screen4x3"/>
  <p:notesSz cx="6858000" cy="9144000"/>
  <p:embeddedFontLst>
    <p:embeddedFont>
      <p:font typeface="Inter" panose="02000503000000020004" charset="0"/>
      <p:bold r:id="rId31"/>
    </p:embeddedFont>
    <p:embeddedFont>
      <p:font typeface="Calibri" panose="020F0502020204030204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5" Type="http://schemas.openxmlformats.org/officeDocument/2006/relationships/font" Target="fonts/font5.fntdata"/><Relationship Id="rId34" Type="http://schemas.openxmlformats.org/officeDocument/2006/relationships/font" Target="fonts/font4.fntdata"/><Relationship Id="rId33" Type="http://schemas.openxmlformats.org/officeDocument/2006/relationships/font" Target="fonts/font3.fntdata"/><Relationship Id="rId32" Type="http://schemas.openxmlformats.org/officeDocument/2006/relationships/font" Target="fonts/font2.fntdata"/><Relationship Id="rId31" Type="http://schemas.openxmlformats.org/officeDocument/2006/relationships/font" Target="fonts/font1.fntdata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image" Target="../media/image2.png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image" Target="../media/image3.png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image" Target="../media/image4.png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@png_b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14923" y="1742132"/>
            <a:ext cx="10777077" cy="51158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694690" y="1306195"/>
            <a:ext cx="6951980" cy="244919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sym typeface="+mn-ea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694690" y="4182110"/>
            <a:ext cx="3918585" cy="50419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8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9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2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@png_b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2551882"/>
            <a:ext cx="7341844" cy="430294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2114416" y="1303507"/>
            <a:ext cx="2880000" cy="2346658"/>
          </a:xfrm>
        </p:spPr>
        <p:txBody>
          <a:bodyPr anchor="ctr">
            <a:normAutofit/>
          </a:bodyPr>
          <a:lstStyle>
            <a:lvl1pPr>
              <a:defRPr sz="4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@png_b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987730" y="1496287"/>
            <a:ext cx="9204270" cy="535846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322070" y="3168015"/>
            <a:ext cx="8319770" cy="2193925"/>
          </a:xfrm>
        </p:spPr>
        <p:txBody>
          <a:bodyPr anchor="t">
            <a:normAutofit/>
          </a:bodyPr>
          <a:lstStyle>
            <a:lvl1pPr algn="l">
              <a:defRPr sz="4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1322070" y="1767840"/>
            <a:ext cx="8319770" cy="1224280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8000" b="1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2"/>
            </p:custDataLst>
          </p:nvPr>
        </p:nvSpPr>
        <p:spPr>
          <a:xfrm>
            <a:off x="694799" y="1266825"/>
            <a:ext cx="5181600" cy="4910775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313200" y="1266825"/>
            <a:ext cx="5181600" cy="4910775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4800" y="1277189"/>
            <a:ext cx="5157787" cy="540000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94800" y="1916723"/>
            <a:ext cx="5157787" cy="427294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311612" y="1277189"/>
            <a:ext cx="5183188" cy="540000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5"/>
            </p:custDataLst>
          </p:nvPr>
        </p:nvSpPr>
        <p:spPr>
          <a:xfrm>
            <a:off x="6311612" y="1916723"/>
            <a:ext cx="5183188" cy="427294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85800" y="360000"/>
            <a:ext cx="10814050" cy="581760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4799" y="1266825"/>
            <a:ext cx="10805051" cy="576000"/>
          </a:xfrm>
        </p:spPr>
        <p:txBody>
          <a:bodyPr anchor="t"/>
          <a:lstStyle>
            <a:lvl1pPr marL="0" indent="0">
              <a:buNone/>
              <a:defRPr sz="2400" b="0">
                <a:latin typeface="+mn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@png_b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00300" y="1409248"/>
            <a:ext cx="9791699" cy="54487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694799" y="1954800"/>
            <a:ext cx="6094800" cy="1800000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694690" y="4182110"/>
            <a:ext cx="3918585" cy="504190"/>
          </a:xfrm>
        </p:spPr>
        <p:txBody>
          <a:bodyPr vert="horz" lIns="0" tIns="0" rIns="0" bIns="0" rtlCol="0" anchor="ctr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18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8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9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2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4799" y="1266825"/>
            <a:ext cx="10799999" cy="49107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4799" y="6356350"/>
            <a:ext cx="2886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56350"/>
            <a:ext cx="2884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1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3" Type="http://schemas.openxmlformats.org/officeDocument/2006/relationships/slideLayout" Target="../slideLayouts/slideLayout18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tags" Target="../tags/tag68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0" Type="http://schemas.openxmlformats.org/officeDocument/2006/relationships/slideLayout" Target="../slideLayouts/slideLayout13.xml"/><Relationship Id="rId1" Type="http://schemas.openxmlformats.org/officeDocument/2006/relationships/tags" Target="../tags/tag8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120.xml"/><Relationship Id="rId7" Type="http://schemas.openxmlformats.org/officeDocument/2006/relationships/tags" Target="../tags/tag119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tags" Target="../tags/tag134.xml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0" Type="http://schemas.openxmlformats.org/officeDocument/2006/relationships/slideLayout" Target="../slideLayouts/slideLayout13.xml"/><Relationship Id="rId1" Type="http://schemas.openxmlformats.org/officeDocument/2006/relationships/tags" Target="../tags/tag12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153.xml"/><Relationship Id="rId1" Type="http://schemas.openxmlformats.org/officeDocument/2006/relationships/tags" Target="../tags/tag144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162.xml"/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" Type="http://schemas.openxmlformats.org/officeDocument/2006/relationships/tags" Target="../tags/tag157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170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" Type="http://schemas.openxmlformats.org/officeDocument/2006/relationships/tags" Target="../tags/tag16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178.xml"/><Relationship Id="rId7" Type="http://schemas.openxmlformats.org/officeDocument/2006/relationships/tags" Target="../tags/tag177.xml"/><Relationship Id="rId6" Type="http://schemas.openxmlformats.org/officeDocument/2006/relationships/tags" Target="../tags/tag176.xml"/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tags" Target="../tags/tag17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" Type="http://schemas.openxmlformats.org/officeDocument/2006/relationships/tags" Target="../tags/tag179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tags" Target="../tags/tag182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190.xml"/><Relationship Id="rId5" Type="http://schemas.openxmlformats.org/officeDocument/2006/relationships/tags" Target="../tags/tag189.xml"/><Relationship Id="rId4" Type="http://schemas.openxmlformats.org/officeDocument/2006/relationships/tags" Target="../tags/tag188.xml"/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" Type="http://schemas.openxmlformats.org/officeDocument/2006/relationships/tags" Target="../tags/tag185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" Type="http://schemas.openxmlformats.org/officeDocument/2006/relationships/tags" Target="../tags/tag194.xml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" Type="http://schemas.openxmlformats.org/officeDocument/2006/relationships/tags" Target="../tags/tag191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205.xml"/><Relationship Id="rId8" Type="http://schemas.openxmlformats.org/officeDocument/2006/relationships/tags" Target="../tags/tag204.xml"/><Relationship Id="rId7" Type="http://schemas.openxmlformats.org/officeDocument/2006/relationships/tags" Target="../tags/tag203.xml"/><Relationship Id="rId6" Type="http://schemas.openxmlformats.org/officeDocument/2006/relationships/tags" Target="../tags/tag202.xml"/><Relationship Id="rId5" Type="http://schemas.openxmlformats.org/officeDocument/2006/relationships/tags" Target="../tags/tag201.xml"/><Relationship Id="rId4" Type="http://schemas.openxmlformats.org/officeDocument/2006/relationships/tags" Target="../tags/tag200.xml"/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0" Type="http://schemas.openxmlformats.org/officeDocument/2006/relationships/slideLayout" Target="../slideLayouts/slideLayout13.xml"/><Relationship Id="rId1" Type="http://schemas.openxmlformats.org/officeDocument/2006/relationships/tags" Target="../tags/tag197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213.xml"/><Relationship Id="rId7" Type="http://schemas.openxmlformats.org/officeDocument/2006/relationships/tags" Target="../tags/tag212.xml"/><Relationship Id="rId6" Type="http://schemas.openxmlformats.org/officeDocument/2006/relationships/tags" Target="../tags/tag211.xml"/><Relationship Id="rId5" Type="http://schemas.openxmlformats.org/officeDocument/2006/relationships/tags" Target="../tags/tag210.xml"/><Relationship Id="rId4" Type="http://schemas.openxmlformats.org/officeDocument/2006/relationships/tags" Target="../tags/tag209.xml"/><Relationship Id="rId3" Type="http://schemas.openxmlformats.org/officeDocument/2006/relationships/tags" Target="../tags/tag208.xml"/><Relationship Id="rId2" Type="http://schemas.openxmlformats.org/officeDocument/2006/relationships/tags" Target="../tags/tag207.xml"/><Relationship Id="rId1" Type="http://schemas.openxmlformats.org/officeDocument/2006/relationships/tags" Target="../tags/tag206.xm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219.xml"/><Relationship Id="rId5" Type="http://schemas.openxmlformats.org/officeDocument/2006/relationships/tags" Target="../tags/tag218.xml"/><Relationship Id="rId4" Type="http://schemas.openxmlformats.org/officeDocument/2006/relationships/tags" Target="../tags/tag217.xml"/><Relationship Id="rId3" Type="http://schemas.openxmlformats.org/officeDocument/2006/relationships/tags" Target="../tags/tag216.xml"/><Relationship Id="rId2" Type="http://schemas.openxmlformats.org/officeDocument/2006/relationships/tags" Target="../tags/tag215.xml"/><Relationship Id="rId1" Type="http://schemas.openxmlformats.org/officeDocument/2006/relationships/tags" Target="../tags/tag2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221.xml"/><Relationship Id="rId1" Type="http://schemas.openxmlformats.org/officeDocument/2006/relationships/tags" Target="../tags/tag2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TextBox 5"/>
          <p:cNvSpPr txBox="1"/>
          <p:nvPr>
            <p:custDataLst>
              <p:tags r:id="rId1"/>
            </p:custDataLst>
          </p:nvPr>
        </p:nvSpPr>
        <p:spPr>
          <a:xfrm>
            <a:off x="609600" y="4003327"/>
            <a:ext cx="3272155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chemeClr val="accent1"/>
                </a:solidFill>
              </a:rPr>
              <a:t>Team Cyber Cobra Group • October 2026</a:t>
            </a:r>
            <a:endParaRPr sz="1200" b="0" i="0" u="none">
              <a:solidFill>
                <a:schemeClr val="accent1"/>
              </a:solidFill>
            </a:endParaRPr>
          </a:p>
        </p:txBody>
      </p:sp>
      <p:sp>
        <p:nvSpPr>
          <p:cNvPr id="11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01955" y="1306195"/>
            <a:ext cx="7244715" cy="2449195"/>
          </a:xfrm>
        </p:spPr>
        <p:txBody>
          <a:bodyPr>
            <a:normAutofit fontScale="9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5400" u="none">
                <a:ea typeface="+mj-ea"/>
              </a:rPr>
              <a:t>INSA CYBERSECURITY </a:t>
            </a:r>
            <a:br>
              <a:rPr sz="5400" u="none">
                <a:ea typeface="+mj-ea"/>
              </a:rPr>
            </a:br>
            <a:br>
              <a:rPr sz="5400" u="none">
                <a:ea typeface="+mj-ea"/>
              </a:rPr>
            </a:br>
            <a:r>
              <a:rPr sz="2665">
                <a:ea typeface="+mj-ea"/>
                <a:sym typeface="+mn-ea"/>
              </a:rPr>
              <a:t>PROJECT</a:t>
            </a:r>
            <a:endParaRPr sz="2665" u="none">
              <a:ea typeface="+mj-ea"/>
            </a:endParaRPr>
          </a:p>
        </p:txBody>
      </p:sp>
      <p:sp>
        <p:nvSpPr>
          <p:cNvPr id="9" name="Title 6"/>
          <p:cNvSpPr>
            <a:spLocks noGrp="1"/>
          </p:cNvSpPr>
          <p:nvPr/>
        </p:nvSpPr>
        <p:spPr>
          <a:xfrm>
            <a:off x="609600" y="2711797"/>
            <a:ext cx="4669790" cy="59245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marL="0" marR="0" algn="l" defTabSz="457200" rtl="0" eaLnBrk="1" fontAlgn="auto" latinLnBrk="0" hangingPunct="1">
              <a:lnSpc>
                <a:spcPts val="4620"/>
              </a:lnSpc>
              <a:spcBef>
                <a:spcPct val="0"/>
              </a:spcBef>
              <a:buClrTx/>
              <a:buSzTx/>
              <a:buFontTx/>
              <a:buNone/>
              <a:defRPr kumimoji="0" lang="en-US" sz="4200" b="1" i="0" u="none" strike="noStrike" kern="1200" cap="none" spc="0" normalizeH="0" baseline="0" noProof="1">
                <a:solidFill>
                  <a:srgbClr val="FFFFFF"/>
                </a:solidFill>
                <a:uFillTx/>
                <a:latin typeface="+mj-lt"/>
                <a:ea typeface="+mn-ea"/>
                <a:cs typeface="+mn-cs"/>
              </a:defRPr>
            </a:lvl1pPr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cs typeface="Space Grotesk" charset="0"/>
              </a:rPr>
              <a:t>EthioSec Scanner</a:t>
            </a:r>
            <a:endParaRPr>
              <a:solidFill>
                <a:schemeClr val="tx1"/>
              </a:solidFill>
              <a:cs typeface="Space Grotesk" charset="0"/>
            </a:endParaRPr>
          </a:p>
        </p:txBody>
      </p:sp>
      <p:sp>
        <p:nvSpPr>
          <p:cNvPr id="10" name="Subtitle 9"/>
          <p:cNvSpPr>
            <a:spLocks noGrp="1"/>
          </p:cNvSpPr>
          <p:nvPr>
            <p:ph type="subTitle" idx="14"/>
          </p:nvPr>
        </p:nvSpPr>
        <p:spPr>
          <a:xfrm>
            <a:off x="609600" y="3756025"/>
            <a:ext cx="4911090" cy="430530"/>
          </a:xfrm>
        </p:spPr>
        <p:txBody>
          <a:bodyPr>
            <a:normAutofit fontScale="90000"/>
          </a:bodyPr>
          <a:p>
            <a:pPr algn="l">
              <a:buNone/>
            </a:pPr>
            <a:r>
              <a:rPr>
                <a:latin typeface="+mn-lt"/>
                <a:cs typeface="Inter" panose="02000503000000020004" charset="0"/>
              </a:rPr>
              <a:t>AI-Powered Web &amp; API Vulnerability Scanner</a:t>
            </a:r>
            <a:endParaRPr>
              <a:latin typeface="+mn-lt"/>
              <a:cs typeface="Inter" panose="020005030000000200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451" y="3176587"/>
            <a:ext cx="2042219" cy="962025"/>
          </a:xfrm>
          <a:prstGeom prst="roundRect">
            <a:avLst>
              <a:gd name="adj" fmla="val 11881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842170" y="3309937"/>
            <a:ext cx="2042219" cy="962025"/>
          </a:xfrm>
          <a:prstGeom prst="roundRect">
            <a:avLst>
              <a:gd name="adj" fmla="val 11881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74890" y="3309937"/>
            <a:ext cx="2042219" cy="962025"/>
          </a:xfrm>
          <a:prstGeom prst="roundRect">
            <a:avLst>
              <a:gd name="adj" fmla="val 11881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07609" y="3309937"/>
            <a:ext cx="2042219" cy="962025"/>
          </a:xfrm>
          <a:prstGeom prst="roundRect">
            <a:avLst>
              <a:gd name="adj" fmla="val 11881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540329" y="3309937"/>
            <a:ext cx="2042219" cy="962025"/>
          </a:xfrm>
          <a:prstGeom prst="roundRect">
            <a:avLst>
              <a:gd name="adj" fmla="val 11881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974923" y="3548062"/>
            <a:ext cx="1311275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chemeClr val="lt1"/>
                </a:solidFill>
              </a:rPr>
              <a:t>Abel Biruktesfa</a:t>
            </a:r>
            <a:endParaRPr sz="1350" b="1" i="0" u="none">
              <a:solidFill>
                <a:schemeClr val="lt1"/>
              </a:solidFill>
            </a:endParaRPr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1041597" y="3843337"/>
            <a:ext cx="1177925" cy="184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chemeClr val="lt1"/>
                </a:solidFill>
              </a:rPr>
              <a:t>CTC-1481-26</a:t>
            </a:r>
            <a:endParaRPr sz="1200" b="0" i="0" u="none">
              <a:solidFill>
                <a:schemeClr val="lt1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3324800" y="3548062"/>
            <a:ext cx="1076960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chemeClr val="lt1"/>
                </a:solidFill>
              </a:rPr>
              <a:t>Abel Tilahun</a:t>
            </a:r>
            <a:endParaRPr sz="1350" b="1" i="0" u="none">
              <a:solidFill>
                <a:schemeClr val="lt1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3274317" y="3843337"/>
            <a:ext cx="1177925" cy="184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chemeClr val="lt1"/>
                </a:solidFill>
              </a:rPr>
              <a:t>CTC-1696-26</a:t>
            </a:r>
            <a:endParaRPr sz="1200" b="0" i="0" u="none">
              <a:solidFill>
                <a:schemeClr val="lt1"/>
              </a:solidFill>
            </a:endParaRPr>
          </a:p>
        </p:txBody>
      </p:sp>
      <p:sp>
        <p:nvSpPr>
          <p:cNvPr id="12" name="TextBox 11"/>
          <p:cNvSpPr txBox="1"/>
          <p:nvPr>
            <p:custDataLst>
              <p:tags r:id="rId5"/>
            </p:custDataLst>
          </p:nvPr>
        </p:nvSpPr>
        <p:spPr>
          <a:xfrm>
            <a:off x="5486082" y="3548062"/>
            <a:ext cx="1219835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chemeClr val="lt1"/>
                </a:solidFill>
              </a:rPr>
              <a:t>Miftah Hussen</a:t>
            </a:r>
            <a:endParaRPr sz="1350" b="1" i="0" u="none">
              <a:solidFill>
                <a:schemeClr val="lt1"/>
              </a:solidFill>
            </a:endParaRPr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5507037" y="3843337"/>
            <a:ext cx="1177925" cy="184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chemeClr val="lt1"/>
                </a:solidFill>
              </a:rPr>
              <a:t>CTC-4008-26</a:t>
            </a:r>
            <a:endParaRPr sz="1200" b="0" i="0" u="none">
              <a:solidFill>
                <a:schemeClr val="lt1"/>
              </a:solidFill>
            </a:endParaRPr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7734995" y="3548062"/>
            <a:ext cx="1187450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chemeClr val="lt1"/>
                </a:solidFill>
              </a:rPr>
              <a:t>Mikias Getnet</a:t>
            </a:r>
            <a:endParaRPr sz="1350" b="1" i="0" u="none">
              <a:solidFill>
                <a:schemeClr val="lt1"/>
              </a:solidFill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7795318" y="3843337"/>
            <a:ext cx="1066800" cy="184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chemeClr val="lt1"/>
                </a:solidFill>
              </a:rPr>
              <a:t>CTC-513-26</a:t>
            </a:r>
            <a:endParaRPr sz="1200" b="0" i="0" u="none">
              <a:solidFill>
                <a:schemeClr val="lt1"/>
              </a:solidFill>
            </a:endParaRPr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>
            <a:off x="10261401" y="3548062"/>
            <a:ext cx="600075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chemeClr val="lt1"/>
                </a:solidFill>
              </a:rPr>
              <a:t>Maraki</a:t>
            </a:r>
            <a:endParaRPr sz="1350" b="1" i="0" u="none">
              <a:solidFill>
                <a:schemeClr val="lt1"/>
              </a:solidFill>
            </a:endParaRPr>
          </a:p>
        </p:txBody>
      </p:sp>
      <p:sp>
        <p:nvSpPr>
          <p:cNvPr id="17" name="TextBox 16"/>
          <p:cNvSpPr txBox="1"/>
          <p:nvPr>
            <p:custDataLst>
              <p:tags r:id="rId10"/>
            </p:custDataLst>
          </p:nvPr>
        </p:nvSpPr>
        <p:spPr>
          <a:xfrm>
            <a:off x="9972476" y="3843337"/>
            <a:ext cx="1177925" cy="184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chemeClr val="lt1"/>
                </a:solidFill>
              </a:rPr>
              <a:t>CTC-2443-26</a:t>
            </a:r>
            <a:endParaRPr sz="1200" b="0" i="0" u="none">
              <a:solidFill>
                <a:schemeClr val="lt1"/>
              </a:solidFill>
            </a:endParaRPr>
          </a:p>
        </p:txBody>
      </p:sp>
      <p:sp>
        <p:nvSpPr>
          <p:cNvPr id="18" name="Title 17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/>
        <p:txBody>
          <a:bodyPr vert="horz" lIns="0" tIns="0" rIns="0" bIns="0" rtlCol="0" anchor="b">
            <a:normAutofit fontScale="90000"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Project Team Members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64765"/>
            <a:ext cx="5070475" cy="2125980"/>
          </a:xfrm>
          <a:prstGeom prst="roundRect">
            <a:avLst>
              <a:gd name="adj" fmla="val 6349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248400" y="2890837"/>
            <a:ext cx="5334000" cy="1800225"/>
          </a:xfrm>
          <a:prstGeom prst="roundRect">
            <a:avLst>
              <a:gd name="adj" fmla="val 6349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1"/>
            </p:custDataLst>
          </p:nvPr>
        </p:nvSpPr>
        <p:spPr>
          <a:xfrm>
            <a:off x="923925" y="3205162"/>
            <a:ext cx="1838325" cy="2305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chemeClr val="lt1"/>
                </a:solidFill>
              </a:rPr>
              <a:t>INSA &amp; Instructors</a:t>
            </a:r>
            <a:endParaRPr sz="1500" b="1" i="0" u="none">
              <a:solidFill>
                <a:schemeClr val="lt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923925" y="3605212"/>
            <a:ext cx="4800600" cy="7785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25"/>
              </a:lnSpc>
            </a:pPr>
            <a:r>
              <a:rPr sz="1400" b="1" i="0" u="none">
                <a:solidFill>
                  <a:schemeClr val="lt1"/>
                </a:solidFill>
              </a:rPr>
              <a:t>Special thanks to INSA, mentors, and our instructor Mr. Fasika Mekbib for continuous guidance and invaluable technical insights.</a:t>
            </a:r>
            <a:endParaRPr sz="1400" b="1" i="0" u="none">
              <a:solidFill>
                <a:schemeClr val="lt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6562725" y="3205162"/>
            <a:ext cx="2085340" cy="2305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chemeClr val="lt1"/>
                </a:solidFill>
              </a:rPr>
              <a:t>Collaborators &amp; Peers</a:t>
            </a:r>
            <a:endParaRPr sz="1500" b="1" i="0" u="none">
              <a:solidFill>
                <a:schemeClr val="lt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6562725" y="3605212"/>
            <a:ext cx="4800600" cy="77851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chemeClr val="lt1"/>
                </a:solidFill>
              </a:rPr>
              <a:t>Appreciation to the web development students who collaborated during testing, providing critical feedback and perspective.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0" tIns="0" rIns="0" bIns="0" rtlCol="0" anchor="b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Acknowledgments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Content Placeholder 1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2" name="Rounded Rectangle 1"/>
          <p:cNvSpPr/>
          <p:nvPr>
            <p:custDataLst>
              <p:tags r:id="rId2"/>
            </p:custDataLst>
          </p:nvPr>
        </p:nvSpPr>
        <p:spPr>
          <a:xfrm>
            <a:off x="609600" y="3019425"/>
            <a:ext cx="5334000" cy="1543050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>
            <p:custDataLst>
              <p:tags r:id="rId3"/>
            </p:custDataLst>
          </p:nvPr>
        </p:nvSpPr>
        <p:spPr>
          <a:xfrm>
            <a:off x="6248400" y="3019425"/>
            <a:ext cx="5334000" cy="1543050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923925" y="3333750"/>
            <a:ext cx="2286635" cy="2305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chemeClr val="lt1"/>
                </a:solidFill>
              </a:rPr>
              <a:t>Ubiquitous Web Services</a:t>
            </a:r>
            <a:endParaRPr sz="1500" b="1" i="0" u="none">
              <a:solidFill>
                <a:schemeClr val="lt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923925" y="3733800"/>
            <a:ext cx="4800600" cy="51879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chemeClr val="lt1"/>
                </a:solidFill>
              </a:rPr>
              <a:t>Websites and APIs power modern communication, education, and business services globally.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6562725" y="3333750"/>
            <a:ext cx="1737995" cy="2305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chemeClr val="lt1"/>
                </a:solidFill>
                <a:latin typeface="+mj-lt"/>
              </a:rPr>
              <a:t>Security Concerns</a:t>
            </a:r>
            <a:endParaRPr sz="1500" b="1" i="0" u="none">
              <a:solidFill>
                <a:schemeClr val="lt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>
            <p:custDataLst>
              <p:tags r:id="rId7"/>
            </p:custDataLst>
          </p:nvPr>
        </p:nvSpPr>
        <p:spPr>
          <a:xfrm>
            <a:off x="6562725" y="3733800"/>
            <a:ext cx="4800600" cy="51879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chemeClr val="lt1"/>
                </a:solidFill>
              </a:rPr>
              <a:t>Vulnerabilities and misconfigurations put critical enterprise and user data at immediate risk.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vert="horz" lIns="0" tIns="0" rIns="0" bIns="0" rtlCol="0" anchor="b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Background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48000"/>
            <a:ext cx="3505200" cy="148590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43400" y="3148012"/>
            <a:ext cx="3505200" cy="1285875"/>
          </a:xfrm>
          <a:prstGeom prst="roundRect">
            <a:avLst>
              <a:gd name="adj" fmla="val 8888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077200" y="3148012"/>
            <a:ext cx="3505200" cy="1285875"/>
          </a:xfrm>
          <a:prstGeom prst="roundRect">
            <a:avLst>
              <a:gd name="adj" fmla="val 8888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1"/>
            </p:custDataLst>
          </p:nvPr>
        </p:nvSpPr>
        <p:spPr>
          <a:xfrm>
            <a:off x="885825" y="3324225"/>
            <a:ext cx="1804035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chemeClr val="lt1"/>
                </a:solidFill>
              </a:rPr>
              <a:t>Automated Platform</a:t>
            </a:r>
            <a:endParaRPr sz="1350" b="1" i="0" u="none">
              <a:solidFill>
                <a:schemeClr val="lt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885825" y="3657600"/>
            <a:ext cx="304800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chemeClr val="lt1"/>
                </a:solidFill>
              </a:rPr>
              <a:t>Designed to identify security weaknesses in authorized web apps.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4619625" y="3424237"/>
            <a:ext cx="1471295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chemeClr val="lt1"/>
                </a:solidFill>
              </a:rPr>
              <a:t>Core Focus Areas</a:t>
            </a:r>
            <a:endParaRPr sz="1350" b="1" i="0" u="none">
              <a:solidFill>
                <a:schemeClr val="lt1"/>
              </a:solidFill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4619625" y="3757612"/>
            <a:ext cx="304800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chemeClr val="lt1"/>
                </a:solidFill>
              </a:rPr>
              <a:t>Headers, cookies, CORS, server disclosure, and security configs.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8353425" y="3424237"/>
            <a:ext cx="2041525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chemeClr val="lt1"/>
                </a:solidFill>
              </a:rPr>
              <a:t>Actionable Remediation</a:t>
            </a:r>
            <a:endParaRPr sz="1350" b="1" i="0" u="none">
              <a:solidFill>
                <a:schemeClr val="lt1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8353425" y="3757612"/>
            <a:ext cx="304800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chemeClr val="lt1"/>
                </a:solidFill>
              </a:rPr>
              <a:t>Provides clear explanations and recommendations for fixes.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 vert="horz" lIns="0" tIns="0" rIns="0" bIns="0" rtlCol="0" anchor="b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Project Overview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19425"/>
            <a:ext cx="5334000" cy="1543050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248400" y="3019425"/>
            <a:ext cx="5334000" cy="1543050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1"/>
            </p:custDataLst>
          </p:nvPr>
        </p:nvSpPr>
        <p:spPr>
          <a:xfrm>
            <a:off x="923925" y="3333750"/>
            <a:ext cx="1837055" cy="2305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chemeClr val="lt1"/>
                </a:solidFill>
              </a:rPr>
              <a:t>Manual Complexity</a:t>
            </a:r>
            <a:endParaRPr sz="1500" b="1" i="0" u="none">
              <a:solidFill>
                <a:schemeClr val="lt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923925" y="3733800"/>
            <a:ext cx="4800600" cy="77851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chemeClr val="lt1"/>
                </a:solidFill>
              </a:rPr>
              <a:t>Manual checks for misconfigurations and missing headers are difficult and time-consuming for developers.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6562725" y="3333750"/>
            <a:ext cx="1601470" cy="2305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chemeClr val="lt1"/>
                </a:solidFill>
              </a:rPr>
              <a:t>Tool Accessibility</a:t>
            </a:r>
            <a:endParaRPr sz="1500" b="1" i="0" u="none">
              <a:solidFill>
                <a:schemeClr val="lt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6562725" y="3733800"/>
            <a:ext cx="4800600" cy="51879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chemeClr val="lt1"/>
                </a:solidFill>
              </a:rPr>
              <a:t>Existing tools can be complex to operate and output results that are difficult for beginners to interpret.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0" tIns="0" rIns="0" bIns="0" rtlCol="0" anchor="b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Problem Statement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b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General Objective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48749" y="1266825"/>
            <a:ext cx="10799999" cy="1292225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000"/>
          </a:bodyPr>
          <a:lstStyle/>
          <a:p>
            <a:pPr algn="ctr">
              <a:lnSpc>
                <a:spcPts val="3360"/>
              </a:lnSpc>
            </a:pPr>
            <a:r>
              <a:rPr sz="2400" b="0" i="0" u="none">
                <a:solidFill>
                  <a:schemeClr val="accent1"/>
                </a:solidFill>
              </a:rPr>
              <a:t>To develop a simple and practical web and API vulnerability scanning platform that helps identify common security weaknesses in authorized systems and presents findings clearly.</a:t>
            </a:r>
            <a:endParaRPr sz="2400" b="0" i="0" u="none">
              <a:solidFill>
                <a:schemeClr val="accent1"/>
              </a:solidFill>
            </a:endParaRPr>
          </a:p>
        </p:txBody>
      </p:sp>
      <p:sp>
        <p:nvSpPr>
          <p:cNvPr id="7" name="Content Placeholder 6"/>
          <p:cNvSpPr/>
          <p:nvPr>
            <p:ph idx="1"/>
            <p:custDataLst>
              <p:tags r:id="rId3"/>
            </p:custDataLst>
          </p:nvPr>
        </p:nvSpPr>
        <p:spPr>
          <a:xfrm flipH="1">
            <a:off x="11494770" y="6016625"/>
            <a:ext cx="85090" cy="161290"/>
          </a:xfrm>
        </p:spPr>
        <p:txBody>
          <a:bodyPr>
            <a:normAutofit fontScale="40000"/>
          </a:bodyPr>
          <a:p>
            <a:endParaRPr lang="en-US"/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48000"/>
            <a:ext cx="3505200" cy="148590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43400" y="3048000"/>
            <a:ext cx="3505200" cy="148590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077200" y="3048000"/>
            <a:ext cx="3505200" cy="148590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1"/>
            </p:custDataLst>
          </p:nvPr>
        </p:nvSpPr>
        <p:spPr>
          <a:xfrm>
            <a:off x="885825" y="3324225"/>
            <a:ext cx="1947545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chemeClr val="lt1"/>
                </a:solidFill>
              </a:rPr>
              <a:t>Vulnerability Scanning</a:t>
            </a:r>
            <a:endParaRPr sz="1350" b="1" i="0" u="none">
              <a:solidFill>
                <a:schemeClr val="lt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885825" y="3657600"/>
            <a:ext cx="3048000" cy="622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chemeClr val="lt1"/>
                </a:solidFill>
              </a:rPr>
              <a:t>Scan for missing headers, insecure cookies, CORS errors, and disclosure.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4619625" y="3324225"/>
            <a:ext cx="1301750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chemeClr val="lt1"/>
                </a:solidFill>
              </a:rPr>
              <a:t>Clear Guidance</a:t>
            </a:r>
            <a:endParaRPr sz="1350" b="1" i="0" u="none">
              <a:solidFill>
                <a:schemeClr val="lt1"/>
              </a:solidFill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4619625" y="3657600"/>
            <a:ext cx="3048000" cy="622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chemeClr val="lt1"/>
                </a:solidFill>
              </a:rPr>
              <a:t>Provide structured explanations and recommendations for remediation.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8353425" y="3324225"/>
            <a:ext cx="1404620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chemeClr val="lt1"/>
                </a:solidFill>
              </a:rPr>
              <a:t>Skill Application</a:t>
            </a:r>
            <a:endParaRPr sz="1350" b="1" i="0" u="none">
              <a:solidFill>
                <a:schemeClr val="lt1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8353425" y="3657600"/>
            <a:ext cx="3048000" cy="622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chemeClr val="lt1"/>
                </a:solidFill>
              </a:rPr>
              <a:t>Apply INSA training knowledge directly to a practical software project.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 vert="horz" lIns="0" tIns="0" rIns="0" bIns="0" rtlCol="0" anchor="b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Specific Objectives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19425"/>
            <a:ext cx="5334000" cy="1543050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248400" y="3019425"/>
            <a:ext cx="5334000" cy="1543050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1"/>
            </p:custDataLst>
          </p:nvPr>
        </p:nvSpPr>
        <p:spPr>
          <a:xfrm>
            <a:off x="923925" y="3333750"/>
            <a:ext cx="1955165" cy="2305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chemeClr val="lt1"/>
                </a:solidFill>
              </a:rPr>
              <a:t>Target Environment</a:t>
            </a:r>
            <a:endParaRPr sz="1500" b="1" i="0" u="none">
              <a:solidFill>
                <a:schemeClr val="lt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923925" y="3733800"/>
            <a:ext cx="4800600" cy="51879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chemeClr val="lt1"/>
                </a:solidFill>
              </a:rPr>
              <a:t>Focused exclusively on web applications and APIs with explicit user authorization.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6562725" y="3333750"/>
            <a:ext cx="1713865" cy="2305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chemeClr val="lt1"/>
                </a:solidFill>
              </a:rPr>
              <a:t>Supported Checks</a:t>
            </a:r>
            <a:endParaRPr sz="1500" b="1" i="0" u="none">
              <a:solidFill>
                <a:schemeClr val="lt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6562725" y="3733800"/>
            <a:ext cx="4800600" cy="51879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chemeClr val="lt1"/>
                </a:solidFill>
              </a:rPr>
              <a:t>Security headers, cookie attributes, CORS configurations, HSTS, server disclosure, and discovery.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0" tIns="0" rIns="0" bIns="0" rtlCol="0" anchor="b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Project Scope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>
            <p:custDataLst>
              <p:tags r:id="rId1"/>
            </p:custDataLst>
          </p:nvPr>
        </p:nvSpPr>
        <p:spPr>
          <a:xfrm>
            <a:off x="609600" y="3019425"/>
            <a:ext cx="5334000" cy="1543050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>
            <p:custDataLst>
              <p:tags r:id="rId2"/>
            </p:custDataLst>
          </p:nvPr>
        </p:nvSpPr>
        <p:spPr>
          <a:xfrm>
            <a:off x="6248400" y="3019425"/>
            <a:ext cx="5334000" cy="1543050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923925" y="3333750"/>
            <a:ext cx="1558290" cy="2305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chemeClr val="lt1"/>
                </a:solidFill>
              </a:rPr>
              <a:t>Not a Full Audit</a:t>
            </a:r>
            <a:endParaRPr sz="1500" b="1" i="0" u="none">
              <a:solidFill>
                <a:schemeClr val="lt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923925" y="3733800"/>
            <a:ext cx="4800600" cy="51879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chemeClr val="lt1"/>
                </a:solidFill>
              </a:rPr>
              <a:t>Not intended to replace complete professional security assessments or manual penetration testing.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5"/>
            </p:custDataLst>
          </p:nvPr>
        </p:nvSpPr>
        <p:spPr>
          <a:xfrm>
            <a:off x="6562725" y="3333750"/>
            <a:ext cx="2530475" cy="2305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chemeClr val="lt1"/>
                </a:solidFill>
              </a:rPr>
              <a:t>Configuration Dependency</a:t>
            </a:r>
            <a:endParaRPr sz="1500" b="1" i="0" u="none">
              <a:solidFill>
                <a:schemeClr val="lt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6"/>
            </p:custDataLst>
          </p:nvPr>
        </p:nvSpPr>
        <p:spPr>
          <a:xfrm>
            <a:off x="6562725" y="3733800"/>
            <a:ext cx="4800600" cy="51879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chemeClr val="lt1"/>
                </a:solidFill>
              </a:rPr>
              <a:t>Scan accuracy depends heavily on target accessibility, target configuration, and available metadata.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 vert="horz" lIns="0" tIns="0" rIns="0" bIns="0" rtlCol="0" anchor="b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Project Limitations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4" name="Content Placeholder 3"/>
          <p:cNvSpPr/>
          <p:nvPr>
            <p:ph idx="1"/>
            <p:custDataLst>
              <p:tags r:id="rId8"/>
            </p:custDataLst>
          </p:nvPr>
        </p:nvSpPr>
        <p:spPr>
          <a:xfrm>
            <a:off x="705594" y="1266825"/>
            <a:ext cx="10799999" cy="4910775"/>
          </a:xfrm>
        </p:spPr>
        <p:txBody>
          <a:bodyPr/>
          <a:p>
            <a:endParaRPr lang="en-US"/>
          </a:p>
        </p:txBody>
      </p:sp>
    </p:spTree>
    <p:custDataLst>
      <p:tags r:id="rId9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48000"/>
            <a:ext cx="3505200" cy="148590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43400" y="3048000"/>
            <a:ext cx="3505200" cy="148590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077200" y="3148012"/>
            <a:ext cx="3505200" cy="1285875"/>
          </a:xfrm>
          <a:prstGeom prst="roundRect">
            <a:avLst>
              <a:gd name="adj" fmla="val 8888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1"/>
            </p:custDataLst>
          </p:nvPr>
        </p:nvSpPr>
        <p:spPr>
          <a:xfrm>
            <a:off x="885825" y="3324225"/>
            <a:ext cx="1621155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chemeClr val="lt1"/>
                </a:solidFill>
              </a:rPr>
              <a:t>Iterative Approach</a:t>
            </a:r>
            <a:endParaRPr sz="1350" b="1" i="0" u="none">
              <a:solidFill>
                <a:schemeClr val="lt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885825" y="3657600"/>
            <a:ext cx="3048000" cy="622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chemeClr val="lt1"/>
                </a:solidFill>
              </a:rPr>
              <a:t>Requirement analysis, design, modular implementation, and testing.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4619625" y="3324225"/>
            <a:ext cx="1475105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chemeClr val="lt1"/>
                </a:solidFill>
              </a:rPr>
              <a:t>Task Distribution</a:t>
            </a:r>
            <a:endParaRPr sz="1350" b="1" i="0" u="none">
              <a:solidFill>
                <a:schemeClr val="lt1"/>
              </a:solidFill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4619625" y="3657600"/>
            <a:ext cx="3048000" cy="622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chemeClr val="lt1"/>
                </a:solidFill>
              </a:rPr>
              <a:t>Responsibilities divided among five members across frontend, backend, and AI.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8353425" y="3424237"/>
            <a:ext cx="1614170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chemeClr val="lt1"/>
                </a:solidFill>
              </a:rPr>
              <a:t>Continuous Review</a:t>
            </a:r>
            <a:endParaRPr sz="1350" b="1" i="0" u="none">
              <a:solidFill>
                <a:schemeClr val="lt1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8353425" y="3757612"/>
            <a:ext cx="304800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chemeClr val="lt1"/>
                </a:solidFill>
              </a:rPr>
              <a:t>Weekly Friday meetings and daily updates for seamless integration.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 vert="horz" lIns="0" tIns="0" rIns="0" bIns="0" rtlCol="0" anchor="b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Development Methodology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14687"/>
            <a:ext cx="2571750" cy="1152525"/>
          </a:xfrm>
          <a:prstGeom prst="roundRect">
            <a:avLst>
              <a:gd name="adj" fmla="val 9917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409950" y="3214687"/>
            <a:ext cx="2571750" cy="1152525"/>
          </a:xfrm>
          <a:prstGeom prst="roundRect">
            <a:avLst>
              <a:gd name="adj" fmla="val 9917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210300" y="3214687"/>
            <a:ext cx="2571750" cy="1152525"/>
          </a:xfrm>
          <a:prstGeom prst="roundRect">
            <a:avLst>
              <a:gd name="adj" fmla="val 9917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010650" y="3214687"/>
            <a:ext cx="2571750" cy="1152525"/>
          </a:xfrm>
          <a:prstGeom prst="roundRect">
            <a:avLst>
              <a:gd name="adj" fmla="val 9917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1"/>
            </p:custDataLst>
          </p:nvPr>
        </p:nvSpPr>
        <p:spPr>
          <a:xfrm>
            <a:off x="1227137" y="3452812"/>
            <a:ext cx="1336675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chemeClr val="lt1"/>
                </a:solidFill>
              </a:rPr>
              <a:t>1. Target Input</a:t>
            </a:r>
            <a:endParaRPr sz="1350" b="1" i="0" u="none">
              <a:solidFill>
                <a:schemeClr val="lt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585787" y="3748087"/>
            <a:ext cx="2619375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chemeClr val="lt1"/>
                </a:solidFill>
              </a:rPr>
              <a:t>User provides authorized target URL</a:t>
            </a:r>
            <a:endParaRPr sz="1200" b="0" i="0" u="none">
              <a:solidFill>
                <a:schemeClr val="lt1"/>
              </a:solidFill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4140517" y="3452812"/>
            <a:ext cx="1110615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chemeClr val="lt1"/>
                </a:solidFill>
              </a:rPr>
              <a:t>2. Validation</a:t>
            </a:r>
            <a:endParaRPr sz="1350" b="1" i="0" u="none">
              <a:solidFill>
                <a:schemeClr val="lt1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3386137" y="3748087"/>
            <a:ext cx="2619375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chemeClr val="lt1"/>
                </a:solidFill>
              </a:rPr>
              <a:t>Backend validates request data securely</a:t>
            </a:r>
            <a:endParaRPr sz="1200" b="0" i="0" u="none">
              <a:solidFill>
                <a:schemeClr val="lt1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6964045" y="3452812"/>
            <a:ext cx="1064260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chemeClr val="lt1"/>
                </a:solidFill>
              </a:rPr>
              <a:t>3. Execution</a:t>
            </a:r>
            <a:endParaRPr sz="1350" b="1" i="0" u="none">
              <a:solidFill>
                <a:schemeClr val="lt1"/>
              </a:solidFill>
            </a:endParaRP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6186487" y="3748087"/>
            <a:ext cx="2619375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chemeClr val="lt1"/>
                </a:solidFill>
              </a:rPr>
              <a:t>Scanning modules perform security checks</a:t>
            </a:r>
            <a:endParaRPr sz="1200" b="0" i="0" u="none">
              <a:solidFill>
                <a:schemeClr val="lt1"/>
              </a:solidFill>
            </a:endParaRP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9632632" y="3452812"/>
            <a:ext cx="1327785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chemeClr val="lt1"/>
                </a:solidFill>
              </a:rPr>
              <a:t>4. Presentation</a:t>
            </a:r>
            <a:endParaRPr sz="1350" b="1" i="0" u="none">
              <a:solidFill>
                <a:schemeClr val="lt1"/>
              </a:solidFill>
            </a:endParaRPr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8986837" y="3748087"/>
            <a:ext cx="2619375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chemeClr val="lt1"/>
                </a:solidFill>
              </a:rPr>
              <a:t>Findings returned and rendered on UI</a:t>
            </a:r>
            <a:endParaRPr sz="1200" b="0" i="0" u="none">
              <a:solidFill>
                <a:schemeClr val="lt1"/>
              </a:solidFill>
            </a:endParaRPr>
          </a:p>
        </p:txBody>
      </p:sp>
      <p:sp>
        <p:nvSpPr>
          <p:cNvPr id="15" name="Title 14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 vert="horz" lIns="0" tIns="0" rIns="0" bIns="0" rtlCol="0" anchor="b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System Architecture Workflow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2466975"/>
          <a:ext cx="10972799" cy="2571750"/>
        </p:xfrm>
        <a:graphic>
          <a:graphicData uri="http://schemas.openxmlformats.org/drawingml/2006/table">
            <a:tbl>
              <a:tblPr/>
              <a:tblGrid>
                <a:gridCol w="2169914"/>
                <a:gridCol w="8802885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bg1"/>
                          </a:solidFill>
                        </a:rPr>
                        <a:t>Layer</a:t>
                      </a:r>
                      <a:endParaRPr sz="1350" b="1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bg1"/>
                          </a:solidFill>
                        </a:rPr>
                        <a:t>Technologies</a:t>
                      </a:r>
                      <a:endParaRPr sz="1350" b="1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bg1"/>
                          </a:solidFill>
                        </a:rPr>
                        <a:t>Frontend</a:t>
                      </a:r>
                      <a:endParaRPr sz="1350" b="1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bg1"/>
                          </a:solidFill>
                        </a:rPr>
                        <a:t>Vanilla HTML5, CSS3, JavaScript (ES6+), Modern Cybersecurity Theme</a:t>
                      </a:r>
                      <a:endParaRPr sz="1350" b="0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bg1"/>
                          </a:solidFill>
                        </a:rPr>
                        <a:t>Backend API</a:t>
                      </a:r>
                      <a:endParaRPr sz="1350" b="1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bg1"/>
                          </a:solidFill>
                        </a:rPr>
                        <a:t>Python 3.11+, FastAPI, Starlette, Uvicorn</a:t>
                      </a:r>
                      <a:endParaRPr sz="1350" b="0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bg1"/>
                          </a:solidFill>
                        </a:rPr>
                        <a:t>Database</a:t>
                      </a:r>
                      <a:endParaRPr sz="1350" b="1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bg1"/>
                          </a:solidFill>
                        </a:rPr>
                        <a:t>SQLAlchemy 2.0 ORM (PostgreSQL in production, SQLite local dev)</a:t>
                      </a:r>
                      <a:endParaRPr sz="1350" b="0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bg1"/>
                          </a:solidFill>
                        </a:rPr>
                        <a:t>Authentication</a:t>
                      </a:r>
                      <a:endParaRPr sz="1350" b="1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bg1"/>
                          </a:solidFill>
                        </a:rPr>
                        <a:t>Argon2id hashing, Stateless JWT, 6-digit email verification</a:t>
                      </a:r>
                      <a:endParaRPr sz="1350" b="0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0" tIns="0" rIns="0" bIns="0" rtlCol="0" anchor="b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Technology Stack Overview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19425"/>
            <a:ext cx="5334000" cy="1543050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248400" y="3019425"/>
            <a:ext cx="5334000" cy="1543050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1"/>
            </p:custDataLst>
          </p:nvPr>
        </p:nvSpPr>
        <p:spPr>
          <a:xfrm>
            <a:off x="923925" y="3333750"/>
            <a:ext cx="1589405" cy="2305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chemeClr val="lt1"/>
                </a:solidFill>
              </a:rPr>
              <a:t>Scanning Engine</a:t>
            </a:r>
            <a:endParaRPr sz="1500" b="1" i="0" u="none">
              <a:solidFill>
                <a:schemeClr val="lt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923925" y="3733800"/>
            <a:ext cx="4800600" cy="77851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chemeClr val="lt1"/>
                </a:solidFill>
              </a:rPr>
              <a:t>Asynchronous HTTP crawler, differential analysis, timing-attack verification, and heuristic payload injection.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6562725" y="3333750"/>
            <a:ext cx="1807845" cy="2305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chemeClr val="lt1"/>
                </a:solidFill>
              </a:rPr>
              <a:t>AI Analysis Module</a:t>
            </a:r>
            <a:endParaRPr sz="1500" b="1" i="0" u="none">
              <a:solidFill>
                <a:schemeClr val="lt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6562725" y="3733800"/>
            <a:ext cx="4800600" cy="51879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chemeClr val="lt1"/>
                </a:solidFill>
              </a:rPr>
              <a:t>Multi-provider AI module with Google Gemini API support for deeper contextual finding analysis.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0" tIns="0" rIns="0" bIns="0" rtlCol="0" anchor="b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Scanning &amp; AI Engine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48000"/>
            <a:ext cx="3505200" cy="148590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43400" y="3148012"/>
            <a:ext cx="3505200" cy="1285875"/>
          </a:xfrm>
          <a:prstGeom prst="roundRect">
            <a:avLst>
              <a:gd name="adj" fmla="val 8888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077200" y="3148012"/>
            <a:ext cx="3505200" cy="1285875"/>
          </a:xfrm>
          <a:prstGeom prst="roundRect">
            <a:avLst>
              <a:gd name="adj" fmla="val 8888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1"/>
            </p:custDataLst>
          </p:nvPr>
        </p:nvSpPr>
        <p:spPr>
          <a:xfrm>
            <a:off x="885825" y="3324225"/>
            <a:ext cx="1049655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chemeClr val="lt1"/>
                </a:solidFill>
              </a:rPr>
              <a:t>Frontend UI</a:t>
            </a:r>
            <a:endParaRPr sz="1350" b="1" i="0" u="none">
              <a:solidFill>
                <a:schemeClr val="lt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885825" y="3657600"/>
            <a:ext cx="3048000" cy="622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chemeClr val="lt1"/>
                </a:solidFill>
              </a:rPr>
              <a:t>Clean interface for entering targets and viewing structured scan results.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4619625" y="3424237"/>
            <a:ext cx="1715770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chemeClr val="lt1"/>
                </a:solidFill>
              </a:rPr>
              <a:t>Backend &amp; Scanner</a:t>
            </a:r>
            <a:endParaRPr sz="1350" b="1" i="0" u="none">
              <a:solidFill>
                <a:schemeClr val="lt1"/>
              </a:solidFill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4619625" y="3757612"/>
            <a:ext cx="304800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chemeClr val="lt1"/>
                </a:solidFill>
              </a:rPr>
              <a:t>Handles API requests and controls security assessment execution.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8353425" y="3424237"/>
            <a:ext cx="1278255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chemeClr val="lt1"/>
                </a:solidFill>
              </a:rPr>
              <a:t>Results Display</a:t>
            </a:r>
            <a:endParaRPr sz="1350" b="1" i="0" u="none">
              <a:solidFill>
                <a:schemeClr val="lt1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8353425" y="3757612"/>
            <a:ext cx="304800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chemeClr val="lt1"/>
                </a:solidFill>
              </a:rPr>
              <a:t>Organizes detected issues with clear explanations and fixes.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 vert="horz" lIns="0" tIns="0" rIns="0" bIns="0" rtlCol="0" anchor="b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System Implementation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48012"/>
            <a:ext cx="3505200" cy="1285875"/>
          </a:xfrm>
          <a:prstGeom prst="roundRect">
            <a:avLst>
              <a:gd name="adj" fmla="val 8888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43400" y="3148012"/>
            <a:ext cx="3505200" cy="1285875"/>
          </a:xfrm>
          <a:prstGeom prst="roundRect">
            <a:avLst>
              <a:gd name="adj" fmla="val 8888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077200" y="3148012"/>
            <a:ext cx="3505200" cy="1285875"/>
          </a:xfrm>
          <a:prstGeom prst="roundRect">
            <a:avLst>
              <a:gd name="adj" fmla="val 8888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1"/>
            </p:custDataLst>
          </p:nvPr>
        </p:nvSpPr>
        <p:spPr>
          <a:xfrm>
            <a:off x="885825" y="3424237"/>
            <a:ext cx="1630680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chemeClr val="lt1"/>
                </a:solidFill>
              </a:rPr>
              <a:t>Authorized Testing</a:t>
            </a:r>
            <a:endParaRPr sz="1350" b="1" i="0" u="none">
              <a:solidFill>
                <a:schemeClr val="lt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885825" y="3757612"/>
            <a:ext cx="304800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chemeClr val="lt1"/>
                </a:solidFill>
              </a:rPr>
              <a:t>Strictly limited to systems owned or explicitly authorized to test.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4619625" y="3424237"/>
            <a:ext cx="1424940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chemeClr val="lt1"/>
                </a:solidFill>
              </a:rPr>
              <a:t>Non-Destructive</a:t>
            </a:r>
            <a:endParaRPr sz="1350" b="1" i="0" u="none">
              <a:solidFill>
                <a:schemeClr val="lt1"/>
              </a:solidFill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4619625" y="3757612"/>
            <a:ext cx="304800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chemeClr val="lt1"/>
                </a:solidFill>
              </a:rPr>
              <a:t>Avoids aggressive or destructive testing by default.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8353425" y="3424237"/>
            <a:ext cx="1315085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chemeClr val="lt1"/>
                </a:solidFill>
              </a:rPr>
              <a:t>Secret Security</a:t>
            </a:r>
            <a:endParaRPr sz="1350" b="1" i="0" u="none">
              <a:solidFill>
                <a:schemeClr val="lt1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8353425" y="3757612"/>
            <a:ext cx="304800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chemeClr val="lt1"/>
                </a:solidFill>
              </a:rPr>
              <a:t>API keys and credentials stored securely and excluded from repos.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 vert="horz" lIns="0" tIns="0" rIns="0" bIns="0" rtlCol="0" anchor="b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Security &amp; Ethical Principles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2466975"/>
          <a:ext cx="10972798" cy="2571750"/>
        </p:xfrm>
        <a:graphic>
          <a:graphicData uri="http://schemas.openxmlformats.org/drawingml/2006/table">
            <a:tbl>
              <a:tblPr/>
              <a:tblGrid>
                <a:gridCol w="7968704"/>
                <a:gridCol w="1446311"/>
                <a:gridCol w="1557783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bg1"/>
                          </a:solidFill>
                        </a:rPr>
                        <a:t>Test Case Description</a:t>
                      </a:r>
                      <a:endParaRPr sz="1350" b="1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bg1"/>
                          </a:solidFill>
                        </a:rPr>
                        <a:t>Result</a:t>
                      </a:r>
                      <a:endParaRPr sz="1350" b="1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bg1"/>
                          </a:solidFill>
                        </a:rPr>
                        <a:t>Status</a:t>
                      </a:r>
                      <a:endParaRPr sz="1350" b="1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bg1"/>
                          </a:solidFill>
                        </a:rPr>
                        <a:t>Registration initializes unverified account with 6-digit code</a:t>
                      </a:r>
                      <a:endParaRPr sz="1350" b="0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bg1"/>
                          </a:solidFill>
                        </a:rPr>
                        <a:t>PASSED</a:t>
                      </a:r>
                      <a:endParaRPr sz="1350" b="1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bg1"/>
                          </a:solidFill>
                        </a:rPr>
                        <a:t>VERIFIED</a:t>
                      </a:r>
                      <a:endParaRPr sz="1350" b="0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bg1"/>
                          </a:solidFill>
                        </a:rPr>
                        <a:t>Unverified user receives 403 on protected resource endpoints</a:t>
                      </a:r>
                      <a:endParaRPr sz="1350" b="0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bg1"/>
                          </a:solidFill>
                        </a:rPr>
                        <a:t>PASSED</a:t>
                      </a:r>
                      <a:endParaRPr sz="1350" b="1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bg1"/>
                          </a:solidFill>
                        </a:rPr>
                        <a:t>VERIFIED</a:t>
                      </a:r>
                      <a:endParaRPr sz="1350" b="0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bg1"/>
                          </a:solidFill>
                        </a:rPr>
                        <a:t>Valid code activates account and unblocks protected API calls</a:t>
                      </a:r>
                      <a:endParaRPr sz="1350" b="0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bg1"/>
                          </a:solidFill>
                        </a:rPr>
                        <a:t>PASSED</a:t>
                      </a:r>
                      <a:endParaRPr sz="1350" b="1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bg1"/>
                          </a:solidFill>
                        </a:rPr>
                        <a:t>VERIFIED</a:t>
                      </a:r>
                      <a:endParaRPr sz="1350" b="0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bg1"/>
                          </a:solidFill>
                        </a:rPr>
                        <a:t>Invalid verification code or replay attempts properly rejected</a:t>
                      </a:r>
                      <a:endParaRPr sz="1350" b="0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bg1"/>
                          </a:solidFill>
                        </a:rPr>
                        <a:t>PASSED</a:t>
                      </a:r>
                      <a:endParaRPr sz="1350" b="1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bg1"/>
                          </a:solidFill>
                        </a:rPr>
                        <a:t>VERIFIED</a:t>
                      </a:r>
                      <a:endParaRPr sz="1350" b="0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0" tIns="0" rIns="0" bIns="0" rtlCol="0" anchor="b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Testing &amp; Verification (Auth &amp; Access)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2466975"/>
          <a:ext cx="10972799" cy="2571750"/>
        </p:xfrm>
        <a:graphic>
          <a:graphicData uri="http://schemas.openxmlformats.org/drawingml/2006/table">
            <a:tbl>
              <a:tblPr/>
              <a:tblGrid>
                <a:gridCol w="7976294"/>
                <a:gridCol w="1442591"/>
                <a:gridCol w="1553914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bg1"/>
                          </a:solidFill>
                        </a:rPr>
                        <a:t>Test Case Description</a:t>
                      </a:r>
                      <a:endParaRPr sz="1350" b="1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bg1"/>
                          </a:solidFill>
                        </a:rPr>
                        <a:t>Result</a:t>
                      </a:r>
                      <a:endParaRPr sz="1350" b="1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bg1"/>
                          </a:solidFill>
                        </a:rPr>
                        <a:t>Status</a:t>
                      </a:r>
                      <a:endParaRPr sz="1350" b="1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bg1"/>
                          </a:solidFill>
                        </a:rPr>
                        <a:t>Argon2id password hashing implemented for secure storage</a:t>
                      </a:r>
                      <a:endParaRPr sz="1350" b="0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bg1"/>
                          </a:solidFill>
                        </a:rPr>
                        <a:t>PASSED</a:t>
                      </a:r>
                      <a:endParaRPr sz="1350" b="1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bg1"/>
                          </a:solidFill>
                        </a:rPr>
                        <a:t>VERIFIED</a:t>
                      </a:r>
                      <a:endParaRPr sz="1350" b="0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bg1"/>
                          </a:solidFill>
                        </a:rPr>
                        <a:t>5 consecutive failed logins trigger 15-minute temporary lockout</a:t>
                      </a:r>
                      <a:endParaRPr sz="1350" b="0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bg1"/>
                          </a:solidFill>
                        </a:rPr>
                        <a:t>PASSED</a:t>
                      </a:r>
                      <a:endParaRPr sz="1350" b="1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bg1"/>
                          </a:solidFill>
                        </a:rPr>
                        <a:t>VERIFIED</a:t>
                      </a:r>
                      <a:endParaRPr sz="1350" b="0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bg1"/>
                          </a:solidFill>
                        </a:rPr>
                        <a:t>Cross-user resource isolation enforced against IDOR attacks</a:t>
                      </a:r>
                      <a:endParaRPr sz="1350" b="0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bg1"/>
                          </a:solidFill>
                        </a:rPr>
                        <a:t>PASSED</a:t>
                      </a:r>
                      <a:endParaRPr sz="1350" b="1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bg1"/>
                          </a:solidFill>
                        </a:rPr>
                        <a:t>VERIFIED</a:t>
                      </a:r>
                      <a:endParaRPr sz="1350" b="0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bg1"/>
                          </a:solidFill>
                        </a:rPr>
                        <a:t>SQL injection payloads safely handled as literal data</a:t>
                      </a:r>
                      <a:endParaRPr sz="1350" b="0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bg1"/>
                          </a:solidFill>
                        </a:rPr>
                        <a:t>PASSED</a:t>
                      </a:r>
                      <a:endParaRPr sz="1350" b="1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bg1"/>
                          </a:solidFill>
                        </a:rPr>
                        <a:t>VERIFIED</a:t>
                      </a:r>
                      <a:endParaRPr sz="1350" b="0" i="0" u="none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0" tIns="0" rIns="0" bIns="0" rtlCol="0" anchor="b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Testing &amp; Verification (Security &amp; Isolation)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19425"/>
            <a:ext cx="5334000" cy="1543050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248400" y="2890837"/>
            <a:ext cx="5334000" cy="1800225"/>
          </a:xfrm>
          <a:prstGeom prst="roundRect">
            <a:avLst>
              <a:gd name="adj" fmla="val 6349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1"/>
            </p:custDataLst>
          </p:nvPr>
        </p:nvSpPr>
        <p:spPr>
          <a:xfrm>
            <a:off x="923925" y="3333750"/>
            <a:ext cx="1213485" cy="2305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chemeClr val="lt1"/>
                </a:solidFill>
              </a:rPr>
              <a:t>The Obstacle</a:t>
            </a:r>
            <a:endParaRPr sz="1500" b="1" i="0" u="none">
              <a:solidFill>
                <a:schemeClr val="lt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923925" y="3733800"/>
            <a:ext cx="4800600" cy="51879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chemeClr val="lt1"/>
                </a:solidFill>
              </a:rPr>
              <a:t>Team members were located across different parts of the country, complicating real-time coordination.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6562725" y="3205162"/>
            <a:ext cx="1195705" cy="2305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chemeClr val="lt1"/>
                </a:solidFill>
              </a:rPr>
              <a:t>The Solution</a:t>
            </a:r>
            <a:endParaRPr sz="1500" b="1" i="0" u="none">
              <a:solidFill>
                <a:schemeClr val="lt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6562725" y="3605212"/>
            <a:ext cx="4800600" cy="77851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chemeClr val="lt1"/>
                </a:solidFill>
              </a:rPr>
              <a:t>Established a dedicated Telegram group for daily discussions and fixed Friday meetings for structured reviews.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0" tIns="0" rIns="0" bIns="0" rtlCol="0" anchor="b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Challenge: Geographical Distance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90837"/>
            <a:ext cx="5334000" cy="1800225"/>
          </a:xfrm>
          <a:prstGeom prst="roundRect">
            <a:avLst>
              <a:gd name="adj" fmla="val 6349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248400" y="2890837"/>
            <a:ext cx="5334000" cy="1800225"/>
          </a:xfrm>
          <a:prstGeom prst="roundRect">
            <a:avLst>
              <a:gd name="adj" fmla="val 6349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1"/>
            </p:custDataLst>
          </p:nvPr>
        </p:nvSpPr>
        <p:spPr>
          <a:xfrm>
            <a:off x="923925" y="3205162"/>
            <a:ext cx="1213485" cy="2305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chemeClr val="lt1"/>
                </a:solidFill>
              </a:rPr>
              <a:t>The Obstacle</a:t>
            </a:r>
            <a:endParaRPr sz="1500" b="1" i="0" u="none">
              <a:solidFill>
                <a:schemeClr val="lt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923925" y="3605212"/>
            <a:ext cx="4800600" cy="778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chemeClr val="lt1"/>
                </a:solidFill>
              </a:rPr>
              <a:t>Combining independently developed frontend, backend, and AI modules led to initial data flow and compatibility issues.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6562725" y="3205162"/>
            <a:ext cx="1195705" cy="2305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chemeClr val="lt1"/>
                </a:solidFill>
              </a:rPr>
              <a:t>The Solution</a:t>
            </a:r>
            <a:endParaRPr sz="1500" b="1" i="0" u="none">
              <a:solidFill>
                <a:schemeClr val="lt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6562725" y="3605212"/>
            <a:ext cx="4800600" cy="77851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chemeClr val="lt1"/>
                </a:solidFill>
              </a:rPr>
              <a:t>Conducted over five rounds of iterative testing, debugging, and coordination to achieve a unified platform.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0" tIns="0" rIns="0" bIns="0" rtlCol="0" anchor="b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Challenge: Component Integration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>
            <p:custDataLst>
              <p:tags r:id="rId1"/>
            </p:custDataLst>
          </p:nvPr>
        </p:nvSpPr>
        <p:spPr>
          <a:xfrm>
            <a:off x="609600" y="3019425"/>
            <a:ext cx="5334000" cy="1543050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Rounded Rectangle 2"/>
          <p:cNvSpPr/>
          <p:nvPr>
            <p:custDataLst>
              <p:tags r:id="rId3"/>
            </p:custDataLst>
          </p:nvPr>
        </p:nvSpPr>
        <p:spPr>
          <a:xfrm>
            <a:off x="6248400" y="3019425"/>
            <a:ext cx="5334000" cy="1543050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923925" y="3333750"/>
            <a:ext cx="2056130" cy="2305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chemeClr val="lt1"/>
                </a:solidFill>
              </a:rPr>
              <a:t>Practical Automation</a:t>
            </a:r>
            <a:endParaRPr sz="1500" b="1" i="0" u="none">
              <a:solidFill>
                <a:schemeClr val="lt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923925" y="3733800"/>
            <a:ext cx="4800600" cy="51879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chemeClr val="lt1"/>
                </a:solidFill>
              </a:rPr>
              <a:t>Successfully automates repeatable passive checks and organizes results into clear, actionable findings.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6562725" y="3333750"/>
            <a:ext cx="2138045" cy="2305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chemeClr val="lt1"/>
                </a:solidFill>
                <a:latin typeface="+mj-lt"/>
              </a:rPr>
              <a:t>Evidence-Based Focus</a:t>
            </a:r>
            <a:endParaRPr sz="1500" b="1" i="0" u="none">
              <a:solidFill>
                <a:schemeClr val="lt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>
            <p:custDataLst>
              <p:tags r:id="rId7"/>
            </p:custDataLst>
          </p:nvPr>
        </p:nvSpPr>
        <p:spPr>
          <a:xfrm>
            <a:off x="6562725" y="3733800"/>
            <a:ext cx="4800600" cy="51879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chemeClr val="lt1"/>
                </a:solidFill>
              </a:rPr>
              <a:t>Evaluated on scanner accuracy and evidence rather than inflated vulnerability claims.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vert="horz" lIns="0" tIns="0" rIns="0" bIns="0" rtlCol="0" anchor="b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Discussion &amp; Evaluation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48000"/>
            <a:ext cx="3505200" cy="148590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43400" y="3048000"/>
            <a:ext cx="3505200" cy="148590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077200" y="3048000"/>
            <a:ext cx="3505200" cy="148590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1"/>
            </p:custDataLst>
          </p:nvPr>
        </p:nvSpPr>
        <p:spPr>
          <a:xfrm>
            <a:off x="885825" y="3324225"/>
            <a:ext cx="1514475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chemeClr val="lt1"/>
                </a:solidFill>
              </a:rPr>
              <a:t>OWASP Coverage</a:t>
            </a:r>
            <a:endParaRPr sz="1350" b="1" i="0" u="none">
              <a:solidFill>
                <a:schemeClr val="lt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885825" y="3657600"/>
            <a:ext cx="3048000" cy="622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chemeClr val="lt1"/>
                </a:solidFill>
              </a:rPr>
              <a:t>Expand validated coverage of critical web and API security categories.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4619625" y="3324225"/>
            <a:ext cx="1614170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chemeClr val="lt1"/>
                </a:solidFill>
              </a:rPr>
              <a:t>Polished Reporting</a:t>
            </a:r>
            <a:endParaRPr sz="1350" b="1" i="0" u="none">
              <a:solidFill>
                <a:schemeClr val="lt1"/>
              </a:solidFill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4619625" y="3657600"/>
            <a:ext cx="304800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chemeClr val="lt1"/>
                </a:solidFill>
              </a:rPr>
              <a:t>Generate downloadable assessment reports and scan history.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8353425" y="3324225"/>
            <a:ext cx="1096645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chemeClr val="lt1"/>
                </a:solidFill>
              </a:rPr>
              <a:t>Advanced AI</a:t>
            </a:r>
            <a:endParaRPr sz="1350" b="1" i="0" u="none">
              <a:solidFill>
                <a:schemeClr val="lt1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8353425" y="3657600"/>
            <a:ext cx="3048000" cy="622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chemeClr val="lt1"/>
                </a:solidFill>
              </a:rPr>
              <a:t>Enhance AI explanations while keeping scanner evidence authoritative.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 vert="horz" lIns="0" tIns="0" rIns="0" bIns="0" rtlCol="0" anchor="b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Future Improvements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90837"/>
            <a:ext cx="5334000" cy="1800225"/>
          </a:xfrm>
          <a:prstGeom prst="roundRect">
            <a:avLst>
              <a:gd name="adj" fmla="val 6349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248400" y="3019425"/>
            <a:ext cx="5334000" cy="1543050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1"/>
            </p:custDataLst>
          </p:nvPr>
        </p:nvSpPr>
        <p:spPr>
          <a:xfrm>
            <a:off x="923925" y="3205162"/>
            <a:ext cx="2152015" cy="2305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chemeClr val="lt1"/>
                </a:solidFill>
              </a:rPr>
              <a:t>Knowledge to Practice</a:t>
            </a:r>
            <a:endParaRPr sz="1500" b="1" i="0" u="none">
              <a:solidFill>
                <a:schemeClr val="lt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923925" y="3605212"/>
            <a:ext cx="4800600" cy="77851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chemeClr val="lt1"/>
                </a:solidFill>
              </a:rPr>
              <a:t>Successfully translated INSA summer camp cybersecurity training into a functional, practical software application.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6562725" y="3333750"/>
            <a:ext cx="2227580" cy="2305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chemeClr val="lt1"/>
                </a:solidFill>
              </a:rPr>
              <a:t>Foundation for Growth</a:t>
            </a:r>
            <a:endParaRPr sz="1500" b="1" i="0" u="none">
              <a:solidFill>
                <a:schemeClr val="lt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6562725" y="3733800"/>
            <a:ext cx="4800600" cy="51879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chemeClr val="lt1"/>
                </a:solidFill>
              </a:rPr>
              <a:t>Represents the beginning of a larger journey toward a comprehensive, intelligent security platform.</a:t>
            </a:r>
            <a:endParaRPr sz="1350" b="0" i="0" u="none">
              <a:solidFill>
                <a:schemeClr val="lt1"/>
              </a:solidFill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0" tIns="0" rIns="0" bIns="0" rtlCol="0" anchor="b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Conclusion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5400" u="none">
                <a:ea typeface="+mj-ea"/>
              </a:rPr>
              <a:t>EthioSec Scanner • Cyber Cobra Group</a:t>
            </a:r>
            <a:endParaRPr sz="5400" u="none">
              <a:ea typeface="+mj-ea"/>
            </a:endParaRPr>
          </a:p>
        </p:txBody>
      </p:sp>
      <p:sp>
        <p:nvSpPr>
          <p:cNvPr id="8" name="Title 5"/>
          <p:cNvSpPr>
            <a:spLocks noGrp="1"/>
          </p:cNvSpPr>
          <p:nvPr/>
        </p:nvSpPr>
        <p:spPr>
          <a:xfrm>
            <a:off x="6765925" y="2499995"/>
            <a:ext cx="4143375" cy="55372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3600" b="1" i="0" u="none" strike="noStrike" kern="1200" cap="none" spc="0" normalizeH="0" baseline="0" noProof="1">
                <a:solidFill>
                  <a:srgbClr val="FFFFFF"/>
                </a:solidFill>
                <a:uFillTx/>
                <a:latin typeface="+mj-lt"/>
                <a:ea typeface="+mn-ea"/>
                <a:cs typeface="+mn-cs"/>
              </a:defRPr>
            </a:lvl1pPr>
          </a:lstStyle>
          <a:p>
            <a:pPr algn="ctr">
              <a:buNone/>
            </a:pPr>
            <a:r>
              <a:rPr>
                <a:solidFill>
                  <a:schemeClr val="tx1"/>
                </a:solidFill>
                <a:cs typeface="Space Grotesk" charset="0"/>
              </a:rPr>
              <a:t>Thank You!</a:t>
            </a:r>
            <a:endParaRPr>
              <a:solidFill>
                <a:schemeClr val="tx1"/>
              </a:solidFill>
              <a:cs typeface="Space Grotesk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8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7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62"/>
</p:tagLst>
</file>

<file path=ppt/tags/tag6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6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62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62"/>
</p:tagLst>
</file>

<file path=ppt/tags/tag65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62_1*a*1"/>
  <p:tag name="KSO_WM_TEMPLATE_CATEGORY" val="custom"/>
  <p:tag name="KSO_WM_TEMPLATE_INDEX" val="20233462"/>
  <p:tag name="KSO_WM_UNIT_LAYERLEVEL" val="1"/>
  <p:tag name="KSO_WM_TAG_VERSION" val="3.0"/>
  <p:tag name="KSO_WM_BEAUTIFY_FLAG" val="#wm#"/>
  <p:tag name="KSO_WM_UNIT_PRESET_TEXT" val="The title goes here"/>
</p:tagLst>
</file>

<file path=ppt/tags/tag67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346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62"/>
  <p:tag name="KSO_WM_SLIDE_LAYOUT" val="a_f"/>
  <p:tag name="KSO_WM_SLIDE_LAYOUT_CNT" val="1_1"/>
  <p:tag name="KSO_WM_SLIDE_THEME_ID" val="3313952"/>
  <p:tag name="KSO_WM_SLIDE_THEME_NAME" val="Black Business"/>
</p:tagLst>
</file>

<file path=ppt/tags/tag68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  <p:tag name="KSO_WM_DIAGRAM_VIRTUALLY_FRAME" val="{&quot;height&quot;:37.75000000000004,&quot;left&quot;:76.76559055118109,&quot;top&quot;:279.37496062992125,&quot;width&quot;:801.2187401574804}"/>
</p:tagLst>
</file>

<file path=ppt/tags/tag69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  <p:tag name="KSO_WM_DIAGRAM_VIRTUALLY_FRAME" val="{&quot;height&quot;:37.75000000000004,&quot;left&quot;:76.76559055118109,&quot;top&quot;:279.37496062992125,&quot;width&quot;:801.2187401574804}"/>
</p:tagLst>
</file>

<file path=ppt/tags/tag70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  <p:tag name="KSO_WM_DIAGRAM_VIRTUALLY_FRAME" val="{&quot;height&quot;:37.75000000000004,&quot;left&quot;:76.76559055118109,&quot;top&quot;:279.37496062992125,&quot;width&quot;:801.2187401574804}"/>
</p:tagLst>
</file>

<file path=ppt/tags/tag71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  <p:tag name="KSO_WM_DIAGRAM_VIRTUALLY_FRAME" val="{&quot;height&quot;:37.75000000000004,&quot;left&quot;:76.76559055118109,&quot;top&quot;:279.37496062992125,&quot;width&quot;:801.2187401574804}"/>
</p:tagLst>
</file>

<file path=ppt/tags/tag72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  <p:tag name="KSO_WM_DIAGRAM_VIRTUALLY_FRAME" val="{&quot;height&quot;:37.75000000000004,&quot;left&quot;:76.76559055118109,&quot;top&quot;:279.37496062992125,&quot;width&quot;:801.2187401574804}"/>
</p:tagLst>
</file>

<file path=ppt/tags/tag73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UNIT_ID" val="diagram19882022*l_h_f*1_3_2"/>
  <p:tag name="KSO_WM_DIAGRAM_GROUP_CODE" val="l1-1"/>
  <p:tag name="KSO_WM_TAG_VERSION" val="2.0"/>
  <p:tag name="KSO_WM_BEAUTIFY_FLAG" val="#wm#"/>
  <p:tag name="KSO_WM_DIAGRAM_VIRTUALLY_FRAME" val="{&quot;height&quot;:37.75000000000004,&quot;left&quot;:76.76559055118109,&quot;top&quot;:279.37496062992125,&quot;width&quot;:801.2187401574804}"/>
</p:tagLst>
</file>

<file path=ppt/tags/tag74.xml><?xml version="1.0" encoding="utf-8"?>
<p:tagLst xmlns:p="http://schemas.openxmlformats.org/presentationml/2006/main">
  <p:tag name="KSO_WM_UNIT_INDEX" val="1_4_1"/>
  <p:tag name="KSO_WM_UNIT_TYPE" val="l_h_a"/>
  <p:tag name="KSO_WM_TEMPLATE_CATEGORY" val="diagram"/>
  <p:tag name="KSO_WM_TEMPLATE_INDEX" val="19882022"/>
  <p:tag name="KSO_WM_UNIT_ID" val="diagram19882022*l_h_a*1_4_1"/>
  <p:tag name="KSO_WM_DIAGRAM_GROUP_CODE" val="l1-1"/>
  <p:tag name="KSO_WM_TAG_VERSION" val="2.0"/>
  <p:tag name="KSO_WM_BEAUTIFY_FLAG" val="#wm#"/>
  <p:tag name="KSO_WM_DIAGRAM_VIRTUALLY_FRAME" val="{&quot;height&quot;:37.75000000000004,&quot;left&quot;:76.76559055118109,&quot;top&quot;:279.37496062992125,&quot;width&quot;:801.2187401574804}"/>
</p:tagLst>
</file>

<file path=ppt/tags/tag75.xml><?xml version="1.0" encoding="utf-8"?>
<p:tagLst xmlns:p="http://schemas.openxmlformats.org/presentationml/2006/main">
  <p:tag name="KSO_WM_UNIT_INDEX" val="1_4_2"/>
  <p:tag name="KSO_WM_UNIT_TYPE" val="l_h_f"/>
  <p:tag name="KSO_WM_UNIT_SUBTYPE" val="a"/>
  <p:tag name="KSO_WM_TEMPLATE_CATEGORY" val="diagram"/>
  <p:tag name="KSO_WM_TEMPLATE_INDEX" val="19882022"/>
  <p:tag name="KSO_WM_UNIT_ID" val="diagram19882022*l_h_f*1_4_2"/>
  <p:tag name="KSO_WM_DIAGRAM_GROUP_CODE" val="l1-1"/>
  <p:tag name="KSO_WM_TAG_VERSION" val="2.0"/>
  <p:tag name="KSO_WM_BEAUTIFY_FLAG" val="#wm#"/>
  <p:tag name="KSO_WM_DIAGRAM_VIRTUALLY_FRAME" val="{&quot;height&quot;:37.75000000000004,&quot;left&quot;:76.76559055118109,&quot;top&quot;:279.37496062992125,&quot;width&quot;:801.2187401574804}"/>
</p:tagLst>
</file>

<file path=ppt/tags/tag76.xml><?xml version="1.0" encoding="utf-8"?>
<p:tagLst xmlns:p="http://schemas.openxmlformats.org/presentationml/2006/main">
  <p:tag name="KSO_WM_UNIT_INDEX" val="1_5_1"/>
  <p:tag name="KSO_WM_UNIT_TYPE" val="l_h_a"/>
  <p:tag name="KSO_WM_TEMPLATE_CATEGORY" val="diagram"/>
  <p:tag name="KSO_WM_TEMPLATE_INDEX" val="19882022"/>
  <p:tag name="KSO_WM_UNIT_ID" val="diagram19882022*l_h_a*1_5_1"/>
  <p:tag name="KSO_WM_DIAGRAM_GROUP_CODE" val="l1-1"/>
  <p:tag name="KSO_WM_TAG_VERSION" val="2.0"/>
  <p:tag name="KSO_WM_BEAUTIFY_FLAG" val="#wm#"/>
  <p:tag name="KSO_WM_DIAGRAM_VIRTUALLY_FRAME" val="{&quot;height&quot;:37.75000000000004,&quot;left&quot;:76.76559055118109,&quot;top&quot;:279.37496062992125,&quot;width&quot;:801.2187401574804}"/>
</p:tagLst>
</file>

<file path=ppt/tags/tag77.xml><?xml version="1.0" encoding="utf-8"?>
<p:tagLst xmlns:p="http://schemas.openxmlformats.org/presentationml/2006/main">
  <p:tag name="KSO_WM_UNIT_INDEX" val="1_5_2"/>
  <p:tag name="KSO_WM_UNIT_TYPE" val="l_h_f"/>
  <p:tag name="KSO_WM_UNIT_SUBTYPE" val="a"/>
  <p:tag name="KSO_WM_TEMPLATE_CATEGORY" val="diagram"/>
  <p:tag name="KSO_WM_TEMPLATE_INDEX" val="19882022"/>
  <p:tag name="KSO_WM_UNIT_ID" val="diagram19882022*l_h_f*1_5_2"/>
  <p:tag name="KSO_WM_DIAGRAM_GROUP_CODE" val="l1-1"/>
  <p:tag name="KSO_WM_TAG_VERSION" val="2.0"/>
  <p:tag name="KSO_WM_BEAUTIFY_FLAG" val="#wm#"/>
  <p:tag name="KSO_WM_DIAGRAM_VIRTUALLY_FRAME" val="{&quot;height&quot;:37.75000000000004,&quot;left&quot;:76.76559055118109,&quot;top&quot;:279.37496062992125,&quot;width&quot;:801.2187401574804}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SLIDE_TYPE" val="text"/>
  <p:tag name="KSO_WM_BEAUTIFY_FLAG" val="#wm#"/>
</p:tagLst>
</file>

<file path=ppt/tags/tag80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  <p:tag name="KSO_WM_DIAGRAM_VIRTUALLY_FRAME" val="{&quot;height&quot;:92.8,&quot;left&quot;:72.75,&quot;top&quot;:252.37496062992128,&quot;width&quot;:822}"/>
</p:tagLst>
</file>

<file path=ppt/tags/tag81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  <p:tag name="KSO_WM_DIAGRAM_VIRTUALLY_FRAME" val="{&quot;height&quot;:92.8,&quot;left&quot;:72.75,&quot;top&quot;:252.37496062992128,&quot;width&quot;:822}"/>
</p:tagLst>
</file>

<file path=ppt/tags/tag82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  <p:tag name="KSO_WM_DIAGRAM_VIRTUALLY_FRAME" val="{&quot;height&quot;:92.8,&quot;left&quot;:72.75,&quot;top&quot;:252.37496062992128,&quot;width&quot;:822}"/>
</p:tagLst>
</file>

<file path=ppt/tags/tag83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  <p:tag name="KSO_WM_DIAGRAM_VIRTUALLY_FRAME" val="{&quot;height&quot;:92.8,&quot;left&quot;:72.75,&quot;top&quot;:252.37496062992128,&quot;width&quot;:822}"/>
</p:tagLst>
</file>

<file path=ppt/tags/tag84.xml><?xml version="1.0" encoding="utf-8"?>
<p:tagLst xmlns:p="http://schemas.openxmlformats.org/presentationml/2006/main">
  <p:tag name="KSO_WM_UNIT_TEXT" val="Project Team Member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85.xml><?xml version="1.0" encoding="utf-8"?>
<p:tagLst xmlns:p="http://schemas.openxmlformats.org/presentationml/2006/main">
  <p:tag name="KSO_WM_SLIDE_TYPE" val="text"/>
  <p:tag name="KSO_WM_BEAUTIFY_FLAG" val="#wm#"/>
</p:tagLst>
</file>

<file path=ppt/tags/tag8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2*l_h_i*1_1_1"/>
  <p:tag name="KSO_WM_TEMPLATE_INDEX" val="19882022"/>
  <p:tag name="KSO_WM_TAG_VERSION" val="2.0"/>
  <p:tag name="KSO_WM_DIAGRAM_GROUP_CODE" val="l1-1"/>
</p:tagLst>
</file>

<file path=ppt/tags/tag88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2*l_h_i*1_2_1"/>
  <p:tag name="KSO_WM_TEMPLATE_INDEX" val="19882022"/>
  <p:tag name="KSO_WM_TAG_VERSION" val="2.0"/>
  <p:tag name="KSO_WM_DIAGRAM_GROUP_CODE" val="l1-1"/>
</p:tagLst>
</file>

<file path=ppt/tags/tag89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UNIT_ID" val="diagram19882022_2*l_h_a*1_1_1"/>
  <p:tag name="KSO_WM_TEMPLATE_INDEX" val="19882022"/>
  <p:tag name="KSO_WM_TAG_VERSION" val="2.0"/>
  <p:tag name="KSO_WM_DIAGRAM_GROUP_CODE" val="l1-1"/>
</p:tagLst>
</file>

<file path=ppt/tags/tag90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2*l_h_f*1_1_1"/>
  <p:tag name="KSO_WM_TEMPLATE_INDEX" val="19882022"/>
  <p:tag name="KSO_WM_TAG_VERSION" val="2.0"/>
  <p:tag name="KSO_WM_DIAGRAM_GROUP_CODE" val="l1-1"/>
</p:tagLst>
</file>

<file path=ppt/tags/tag91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UNIT_ID" val="diagram19882022_2*l_h_a*1_2_1"/>
  <p:tag name="KSO_WM_TEMPLATE_INDEX" val="19882022"/>
  <p:tag name="KSO_WM_TAG_VERSION" val="2.0"/>
  <p:tag name="KSO_WM_DIAGRAM_GROUP_CODE" val="l1-1"/>
</p:tagLst>
</file>

<file path=ppt/tags/tag92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2*l_h_f*1_2_1"/>
  <p:tag name="KSO_WM_TEMPLATE_INDEX" val="19882022"/>
  <p:tag name="KSO_WM_TAG_VERSION" val="2.0"/>
  <p:tag name="KSO_WM_DIAGRAM_GROUP_CODE" val="l1-1"/>
</p:tagLst>
</file>

<file path=ppt/tags/tag9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SLIDE_TYPE" val="text"/>
  <p:tag name="KSO_WM_BEAUTIFY_FLAG" val="#wm#"/>
</p:tagLst>
</file>

<file path=ppt/tags/tag95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96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</p:tagLst>
</file>

<file path=ppt/tags/tag97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98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</p:tagLst>
</file>

<file path=ppt/tags/tag99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</p:tagLst>
</file>

<file path=ppt/tags/tag100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UNIT_ID" val="diagram19882022*l_h_f*1_3_2"/>
  <p:tag name="KSO_WM_DIAGRAM_GROUP_CODE" val="l1-1"/>
  <p:tag name="KSO_WM_TAG_VERSION" val="2.0"/>
  <p:tag name="KSO_WM_BEAUTIFY_FLAG" val="#wm#"/>
</p:tagLst>
</file>

<file path=ppt/tags/tag101.xml><?xml version="1.0" encoding="utf-8"?>
<p:tagLst xmlns:p="http://schemas.openxmlformats.org/presentationml/2006/main">
  <p:tag name="KSO_WM_UNIT_TEXT" val="Acknowledgment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102.xml><?xml version="1.0" encoding="utf-8"?>
<p:tagLst xmlns:p="http://schemas.openxmlformats.org/presentationml/2006/main">
  <p:tag name="KSO_WM_SLIDE_TYPE" val="text"/>
  <p:tag name="KSO_WM_BEAUTIFY_FLAG" val="#wm#"/>
</p:tagLst>
</file>

<file path=ppt/tags/tag103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104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</p:tagLst>
</file>

<file path=ppt/tags/tag105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106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</p:tagLst>
</file>

<file path=ppt/tags/tag107.xml><?xml version="1.0" encoding="utf-8"?>
<p:tagLst xmlns:p="http://schemas.openxmlformats.org/presentationml/2006/main">
  <p:tag name="KSO_WM_UNIT_TEXT" val="Project Overview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108.xml><?xml version="1.0" encoding="utf-8"?>
<p:tagLst xmlns:p="http://schemas.openxmlformats.org/presentationml/2006/main">
  <p:tag name="KSO_WM_SLIDE_TYPE" val="text"/>
  <p:tag name="KSO_WM_BEAUTIFY_FLAG" val="#wm#"/>
</p:tagLst>
</file>

<file path=ppt/tags/tag109.xml><?xml version="1.0" encoding="utf-8"?>
<p:tagLst xmlns:p="http://schemas.openxmlformats.org/presentationml/2006/main">
  <p:tag name="KSO_WM_UNIT_TEXT" val="Background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10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SLIDE_TYPE" val="text"/>
  <p:tag name="KSO_WM_BEAUTIFY_FLAG" val="#wm#"/>
</p:tagLst>
</file>

<file path=ppt/tags/tag113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114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</p:tagLst>
</file>

<file path=ppt/tags/tag115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116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</p:tagLst>
</file>

<file path=ppt/tags/tag117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</p:tagLst>
</file>

<file path=ppt/tags/tag118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UNIT_ID" val="diagram19882022*l_h_f*1_3_2"/>
  <p:tag name="KSO_WM_DIAGRAM_GROUP_CODE" val="l1-1"/>
  <p:tag name="KSO_WM_TAG_VERSION" val="2.0"/>
  <p:tag name="KSO_WM_BEAUTIFY_FLAG" val="#wm#"/>
</p:tagLst>
</file>

<file path=ppt/tags/tag119.xml><?xml version="1.0" encoding="utf-8"?>
<p:tagLst xmlns:p="http://schemas.openxmlformats.org/presentationml/2006/main">
  <p:tag name="KSO_WM_UNIT_TEXT" val="Problem Statement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120.xml><?xml version="1.0" encoding="utf-8"?>
<p:tagLst xmlns:p="http://schemas.openxmlformats.org/presentationml/2006/main">
  <p:tag name="KSO_WM_SLIDE_TYPE" val="text"/>
  <p:tag name="KSO_WM_BEAUTIFY_FLAG" val="#wm#"/>
</p:tagLst>
</file>

<file path=ppt/tags/tag121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122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</p:tagLst>
</file>

<file path=ppt/tags/tag123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124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</p:tagLst>
</file>

<file path=ppt/tags/tag125.xml><?xml version="1.0" encoding="utf-8"?>
<p:tagLst xmlns:p="http://schemas.openxmlformats.org/presentationml/2006/main">
  <p:tag name="KSO_WM_UNIT_TEXT" val="Specific Objectiv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126.xml><?xml version="1.0" encoding="utf-8"?>
<p:tagLst xmlns:p="http://schemas.openxmlformats.org/presentationml/2006/main">
  <p:tag name="KSO_WM_SLIDE_TYPE" val="text"/>
  <p:tag name="KSO_WM_BEAUTIFY_FLAG" val="#wm#"/>
</p:tagLst>
</file>

<file path=ppt/tags/tag127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2*l_h_i*1_1_1"/>
  <p:tag name="KSO_WM_TEMPLATE_INDEX" val="19882022"/>
  <p:tag name="KSO_WM_TAG_VERSION" val="2.0"/>
  <p:tag name="KSO_WM_DIAGRAM_GROUP_CODE" val="l1-1"/>
</p:tagLst>
</file>

<file path=ppt/tags/tag128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2*l_h_i*1_2_1"/>
  <p:tag name="KSO_WM_TEMPLATE_INDEX" val="19882022"/>
  <p:tag name="KSO_WM_TAG_VERSION" val="2.0"/>
  <p:tag name="KSO_WM_DIAGRAM_GROUP_CODE" val="l1-1"/>
</p:tagLst>
</file>

<file path=ppt/tags/tag129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UNIT_ID" val="diagram19882022_2*l_h_a*1_1_1"/>
  <p:tag name="KSO_WM_TEMPLATE_INDEX" val="19882022"/>
  <p:tag name="KSO_WM_TAG_VERSION" val="2.0"/>
  <p:tag name="KSO_WM_DIAGRAM_GROUP_CODE" val="l1-1"/>
</p:tagLst>
</file>

<file path=ppt/tags/tag130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2*l_h_f*1_1_1"/>
  <p:tag name="KSO_WM_TEMPLATE_INDEX" val="19882022"/>
  <p:tag name="KSO_WM_TAG_VERSION" val="2.0"/>
  <p:tag name="KSO_WM_DIAGRAM_GROUP_CODE" val="l1-1"/>
</p:tagLst>
</file>

<file path=ppt/tags/tag131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UNIT_ID" val="diagram19882022_2*l_h_a*1_2_1"/>
  <p:tag name="KSO_WM_TEMPLATE_INDEX" val="19882022"/>
  <p:tag name="KSO_WM_TAG_VERSION" val="2.0"/>
  <p:tag name="KSO_WM_DIAGRAM_GROUP_CODE" val="l1-1"/>
</p:tagLst>
</file>

<file path=ppt/tags/tag132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2*l_h_f*1_2_1"/>
  <p:tag name="KSO_WM_TEMPLATE_INDEX" val="19882022"/>
  <p:tag name="KSO_WM_TAG_VERSION" val="2.0"/>
  <p:tag name="KSO_WM_DIAGRAM_GROUP_CODE" val="l1-1"/>
</p:tagLst>
</file>

<file path=ppt/tags/tag133.xml><?xml version="1.0" encoding="utf-8"?>
<p:tagLst xmlns:p="http://schemas.openxmlformats.org/presentationml/2006/main">
  <p:tag name="KSO_WM_UNIT_TEXT" val="General Objectiv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3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SLIDE_TYPE" val="text"/>
  <p:tag name="KSO_WM_BEAUTIFY_FLAG" val="#wm#"/>
</p:tagLst>
</file>

<file path=ppt/tags/tag136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137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</p:tagLst>
</file>

<file path=ppt/tags/tag138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139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</p:tagLst>
</file>

<file path=ppt/tags/tag140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</p:tagLst>
</file>

<file path=ppt/tags/tag141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UNIT_ID" val="diagram19882022*l_h_f*1_3_2"/>
  <p:tag name="KSO_WM_DIAGRAM_GROUP_CODE" val="l1-1"/>
  <p:tag name="KSO_WM_TAG_VERSION" val="2.0"/>
  <p:tag name="KSO_WM_BEAUTIFY_FLAG" val="#wm#"/>
</p:tagLst>
</file>

<file path=ppt/tags/tag142.xml><?xml version="1.0" encoding="utf-8"?>
<p:tagLst xmlns:p="http://schemas.openxmlformats.org/presentationml/2006/main">
  <p:tag name="KSO_WM_UNIT_TEXT" val="Project Scop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143.xml><?xml version="1.0" encoding="utf-8"?>
<p:tagLst xmlns:p="http://schemas.openxmlformats.org/presentationml/2006/main">
  <p:tag name="KSO_WM_SLIDE_TYPE" val="text"/>
  <p:tag name="KSO_WM_BEAUTIFY_FLAG" val="#wm#"/>
</p:tagLst>
</file>

<file path=ppt/tags/tag144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145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</p:tagLst>
</file>

<file path=ppt/tags/tag146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147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</p:tagLst>
</file>

<file path=ppt/tags/tag148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</p:tagLst>
</file>

<file path=ppt/tags/tag149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UNIT_ID" val="diagram19882022*l_h_f*1_3_2"/>
  <p:tag name="KSO_WM_DIAGRAM_GROUP_CODE" val="l1-1"/>
  <p:tag name="KSO_WM_TAG_VERSION" val="2.0"/>
  <p:tag name="KSO_WM_BEAUTIFY_FLAG" val="#wm#"/>
</p:tagLst>
</file>

<file path=ppt/tags/tag150.xml><?xml version="1.0" encoding="utf-8"?>
<p:tagLst xmlns:p="http://schemas.openxmlformats.org/presentationml/2006/main">
  <p:tag name="KSO_WM_UNIT_INDEX" val="1_4_1"/>
  <p:tag name="KSO_WM_UNIT_TYPE" val="l_h_a"/>
  <p:tag name="KSO_WM_TEMPLATE_CATEGORY" val="diagram"/>
  <p:tag name="KSO_WM_TEMPLATE_INDEX" val="19882022"/>
  <p:tag name="KSO_WM_UNIT_ID" val="diagram19882022*l_h_a*1_4_1"/>
  <p:tag name="KSO_WM_DIAGRAM_GROUP_CODE" val="l1-1"/>
  <p:tag name="KSO_WM_TAG_VERSION" val="2.0"/>
  <p:tag name="KSO_WM_BEAUTIFY_FLAG" val="#wm#"/>
</p:tagLst>
</file>

<file path=ppt/tags/tag151.xml><?xml version="1.0" encoding="utf-8"?>
<p:tagLst xmlns:p="http://schemas.openxmlformats.org/presentationml/2006/main">
  <p:tag name="KSO_WM_UNIT_INDEX" val="1_4_2"/>
  <p:tag name="KSO_WM_UNIT_TYPE" val="l_h_f"/>
  <p:tag name="KSO_WM_UNIT_SUBTYPE" val="a"/>
  <p:tag name="KSO_WM_TEMPLATE_CATEGORY" val="diagram"/>
  <p:tag name="KSO_WM_TEMPLATE_INDEX" val="19882022"/>
  <p:tag name="KSO_WM_UNIT_ID" val="diagram19882022*l_h_f*1_4_2"/>
  <p:tag name="KSO_WM_DIAGRAM_GROUP_CODE" val="l1-1"/>
  <p:tag name="KSO_WM_TAG_VERSION" val="2.0"/>
  <p:tag name="KSO_WM_BEAUTIFY_FLAG" val="#wm#"/>
</p:tagLst>
</file>

<file path=ppt/tags/tag152.xml><?xml version="1.0" encoding="utf-8"?>
<p:tagLst xmlns:p="http://schemas.openxmlformats.org/presentationml/2006/main">
  <p:tag name="KSO_WM_UNIT_TEXT" val="Development Methodology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153.xml><?xml version="1.0" encoding="utf-8"?>
<p:tagLst xmlns:p="http://schemas.openxmlformats.org/presentationml/2006/main">
  <p:tag name="KSO_WM_SLIDE_TYPE" val="text"/>
  <p:tag name="KSO_WM_BEAUTIFY_FLAG" val="#wm#"/>
</p:tagLst>
</file>

<file path=ppt/tags/tag154.xml><?xml version="1.0" encoding="utf-8"?>
<p:tagLst xmlns:p="http://schemas.openxmlformats.org/presentationml/2006/main">
  <p:tag name="KSO_WM_UNIT_INDEX" val="2"/>
  <p:tag name="KSO_WM_UNIT_TYPE" val="β"/>
  <p:tag name="KSO_WM_BEAUTIFY_FLAG" val="#wm#"/>
</p:tagLst>
</file>

<file path=ppt/tags/tag155.xml><?xml version="1.0" encoding="utf-8"?>
<p:tagLst xmlns:p="http://schemas.openxmlformats.org/presentationml/2006/main">
  <p:tag name="KSO_WM_UNIT_TEXT" val="System Architecture Workflow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156.xml><?xml version="1.0" encoding="utf-8"?>
<p:tagLst xmlns:p="http://schemas.openxmlformats.org/presentationml/2006/main">
  <p:tag name="KSO_WM_SLIDE_TYPE" val="text"/>
  <p:tag name="KSO_WM_BEAUTIFY_FLAG" val="#wm#"/>
</p:tagLst>
</file>

<file path=ppt/tags/tag157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158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</p:tagLst>
</file>

<file path=ppt/tags/tag159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160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</p:tagLst>
</file>

<file path=ppt/tags/tag161.xml><?xml version="1.0" encoding="utf-8"?>
<p:tagLst xmlns:p="http://schemas.openxmlformats.org/presentationml/2006/main">
  <p:tag name="KSO_WM_UNIT_TEXT" val="Technology Stack Overview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162.xml><?xml version="1.0" encoding="utf-8"?>
<p:tagLst xmlns:p="http://schemas.openxmlformats.org/presentationml/2006/main">
  <p:tag name="KSO_WM_SLIDE_TYPE" val="text"/>
  <p:tag name="KSO_WM_BEAUTIFY_FLAG" val="#wm#"/>
</p:tagLst>
</file>

<file path=ppt/tags/tag163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164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</p:tagLst>
</file>

<file path=ppt/tags/tag165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166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</p:tagLst>
</file>

<file path=ppt/tags/tag167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</p:tagLst>
</file>

<file path=ppt/tags/tag168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UNIT_ID" val="diagram19882022*l_h_f*1_3_2"/>
  <p:tag name="KSO_WM_DIAGRAM_GROUP_CODE" val="l1-1"/>
  <p:tag name="KSO_WM_TAG_VERSION" val="2.0"/>
  <p:tag name="KSO_WM_BEAUTIFY_FLAG" val="#wm#"/>
</p:tagLst>
</file>

<file path=ppt/tags/tag169.xml><?xml version="1.0" encoding="utf-8"?>
<p:tagLst xmlns:p="http://schemas.openxmlformats.org/presentationml/2006/main">
  <p:tag name="KSO_WM_UNIT_TEXT" val="Scanning &amp; AI Engin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170.xml><?xml version="1.0" encoding="utf-8"?>
<p:tagLst xmlns:p="http://schemas.openxmlformats.org/presentationml/2006/main">
  <p:tag name="KSO_WM_SLIDE_TYPE" val="text"/>
  <p:tag name="KSO_WM_BEAUTIFY_FLAG" val="#wm#"/>
</p:tagLst>
</file>

<file path=ppt/tags/tag171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172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</p:tagLst>
</file>

<file path=ppt/tags/tag173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174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</p:tagLst>
</file>

<file path=ppt/tags/tag175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</p:tagLst>
</file>

<file path=ppt/tags/tag176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UNIT_ID" val="diagram19882022*l_h_f*1_3_2"/>
  <p:tag name="KSO_WM_DIAGRAM_GROUP_CODE" val="l1-1"/>
  <p:tag name="KSO_WM_TAG_VERSION" val="2.0"/>
  <p:tag name="KSO_WM_BEAUTIFY_FLAG" val="#wm#"/>
</p:tagLst>
</file>

<file path=ppt/tags/tag177.xml><?xml version="1.0" encoding="utf-8"?>
<p:tagLst xmlns:p="http://schemas.openxmlformats.org/presentationml/2006/main">
  <p:tag name="KSO_WM_UNIT_TEXT" val="System Implementa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178.xml><?xml version="1.0" encoding="utf-8"?>
<p:tagLst xmlns:p="http://schemas.openxmlformats.org/presentationml/2006/main">
  <p:tag name="KSO_WM_SLIDE_TYPE" val="text"/>
  <p:tag name="KSO_WM_BEAUTIFY_FLAG" val="#wm#"/>
</p:tagLst>
</file>

<file path=ppt/tags/tag179.xml><?xml version="1.0" encoding="utf-8"?>
<p:tagLst xmlns:p="http://schemas.openxmlformats.org/presentationml/2006/main">
  <p:tag name="KSO_WM_UNIT_INDEX" val="2"/>
  <p:tag name="KSO_WM_UNIT_TYPE" val="β"/>
  <p:tag name="KSO_WM_BEAUTIFY_FLAG" val="#wm#"/>
</p:tagLst>
</file>

<file path=ppt/tags/tag180.xml><?xml version="1.0" encoding="utf-8"?>
<p:tagLst xmlns:p="http://schemas.openxmlformats.org/presentationml/2006/main">
  <p:tag name="KSO_WM_UNIT_TEXT" val="Security &amp; Ethical Principl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181.xml><?xml version="1.0" encoding="utf-8"?>
<p:tagLst xmlns:p="http://schemas.openxmlformats.org/presentationml/2006/main">
  <p:tag name="KSO_WM_SLIDE_TYPE" val="text"/>
  <p:tag name="KSO_WM_BEAUTIFY_FLAG" val="#wm#"/>
</p:tagLst>
</file>

<file path=ppt/tags/tag182.xml><?xml version="1.0" encoding="utf-8"?>
<p:tagLst xmlns:p="http://schemas.openxmlformats.org/presentationml/2006/main">
  <p:tag name="KSO_WM_UNIT_INDEX" val="2"/>
  <p:tag name="KSO_WM_UNIT_TYPE" val="β"/>
  <p:tag name="KSO_WM_BEAUTIFY_FLAG" val="#wm#"/>
</p:tagLst>
</file>

<file path=ppt/tags/tag183.xml><?xml version="1.0" encoding="utf-8"?>
<p:tagLst xmlns:p="http://schemas.openxmlformats.org/presentationml/2006/main">
  <p:tag name="KSO_WM_UNIT_TEXT" val="Testing &amp; Verification (Auth &amp; Access)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184.xml><?xml version="1.0" encoding="utf-8"?>
<p:tagLst xmlns:p="http://schemas.openxmlformats.org/presentationml/2006/main">
  <p:tag name="KSO_WM_SLIDE_TYPE" val="text"/>
  <p:tag name="KSO_WM_BEAUTIFY_FLAG" val="#wm#"/>
</p:tagLst>
</file>

<file path=ppt/tags/tag185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186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</p:tagLst>
</file>

<file path=ppt/tags/tag187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188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</p:tagLst>
</file>

<file path=ppt/tags/tag189.xml><?xml version="1.0" encoding="utf-8"?>
<p:tagLst xmlns:p="http://schemas.openxmlformats.org/presentationml/2006/main">
  <p:tag name="KSO_WM_UNIT_TEXT" val="Testing &amp; Verification (Security &amp; Isolation)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190.xml><?xml version="1.0" encoding="utf-8"?>
<p:tagLst xmlns:p="http://schemas.openxmlformats.org/presentationml/2006/main">
  <p:tag name="KSO_WM_SLIDE_TYPE" val="text"/>
  <p:tag name="KSO_WM_BEAUTIFY_FLAG" val="#wm#"/>
</p:tagLst>
</file>

<file path=ppt/tags/tag191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192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</p:tagLst>
</file>

<file path=ppt/tags/tag193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194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</p:tagLst>
</file>

<file path=ppt/tags/tag195.xml><?xml version="1.0" encoding="utf-8"?>
<p:tagLst xmlns:p="http://schemas.openxmlformats.org/presentationml/2006/main">
  <p:tag name="KSO_WM_UNIT_TEXT" val="Challenge: Geographical Distanc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196.xml><?xml version="1.0" encoding="utf-8"?>
<p:tagLst xmlns:p="http://schemas.openxmlformats.org/presentationml/2006/main">
  <p:tag name="KSO_WM_SLIDE_TYPE" val="text"/>
  <p:tag name="KSO_WM_BEAUTIFY_FLAG" val="#wm#"/>
</p:tagLst>
</file>

<file path=ppt/tags/tag197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2*l_h_i*1_1_1"/>
  <p:tag name="KSO_WM_TEMPLATE_INDEX" val="19882022"/>
  <p:tag name="KSO_WM_TAG_VERSION" val="2.0"/>
  <p:tag name="KSO_WM_DIAGRAM_GROUP_CODE" val="l1-1"/>
</p:tagLst>
</file>

<file path=ppt/tags/tag19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99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2*l_h_i*1_2_1"/>
  <p:tag name="KSO_WM_TEMPLATE_INDEX" val="19882022"/>
  <p:tag name="KSO_WM_TAG_VERSION" val="2.0"/>
  <p:tag name="KSO_WM_DIAGRAM_GROUP_CODE" val="l1-1"/>
</p:tagLst>
</file>

<file path=ppt/tags/tag200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UNIT_ID" val="diagram19882022_2*l_h_a*1_1_1"/>
  <p:tag name="KSO_WM_TEMPLATE_INDEX" val="19882022"/>
  <p:tag name="KSO_WM_TAG_VERSION" val="2.0"/>
  <p:tag name="KSO_WM_DIAGRAM_GROUP_CODE" val="l1-1"/>
</p:tagLst>
</file>

<file path=ppt/tags/tag201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2*l_h_f*1_1_1"/>
  <p:tag name="KSO_WM_TEMPLATE_INDEX" val="19882022"/>
  <p:tag name="KSO_WM_TAG_VERSION" val="2.0"/>
  <p:tag name="KSO_WM_DIAGRAM_GROUP_CODE" val="l1-1"/>
</p:tagLst>
</file>

<file path=ppt/tags/tag202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UNIT_ID" val="diagram19882022_2*l_h_a*1_2_1"/>
  <p:tag name="KSO_WM_TEMPLATE_INDEX" val="19882022"/>
  <p:tag name="KSO_WM_TAG_VERSION" val="2.0"/>
  <p:tag name="KSO_WM_DIAGRAM_GROUP_CODE" val="l1-1"/>
</p:tagLst>
</file>

<file path=ppt/tags/tag203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2*l_h_f*1_2_1"/>
  <p:tag name="KSO_WM_TEMPLATE_INDEX" val="19882022"/>
  <p:tag name="KSO_WM_TAG_VERSION" val="2.0"/>
  <p:tag name="KSO_WM_DIAGRAM_GROUP_CODE" val="l1-1"/>
</p:tagLst>
</file>

<file path=ppt/tags/tag204.xml><?xml version="1.0" encoding="utf-8"?>
<p:tagLst xmlns:p="http://schemas.openxmlformats.org/presentationml/2006/main">
  <p:tag name="KSO_WM_UNIT_TEXT" val="Project Limitation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05.xml><?xml version="1.0" encoding="utf-8"?>
<p:tagLst xmlns:p="http://schemas.openxmlformats.org/presentationml/2006/main">
  <p:tag name="KSO_WM_SLIDE_TYPE" val="text"/>
  <p:tag name="KSO_WM_BEAUTIFY_FLAG" val="#wm#"/>
</p:tagLst>
</file>

<file path=ppt/tags/tag206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207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</p:tagLst>
</file>

<file path=ppt/tags/tag208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209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</p:tagLst>
</file>

<file path=ppt/tags/tag210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</p:tagLst>
</file>

<file path=ppt/tags/tag211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UNIT_ID" val="diagram19882022*l_h_f*1_3_2"/>
  <p:tag name="KSO_WM_DIAGRAM_GROUP_CODE" val="l1-1"/>
  <p:tag name="KSO_WM_TAG_VERSION" val="2.0"/>
  <p:tag name="KSO_WM_BEAUTIFY_FLAG" val="#wm#"/>
</p:tagLst>
</file>

<file path=ppt/tags/tag212.xml><?xml version="1.0" encoding="utf-8"?>
<p:tagLst xmlns:p="http://schemas.openxmlformats.org/presentationml/2006/main">
  <p:tag name="KSO_WM_UNIT_TEXT" val="Challenge: Component Integra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213.xml><?xml version="1.0" encoding="utf-8"?>
<p:tagLst xmlns:p="http://schemas.openxmlformats.org/presentationml/2006/main">
  <p:tag name="KSO_WM_SLIDE_TYPE" val="text"/>
  <p:tag name="KSO_WM_BEAUTIFY_FLAG" val="#wm#"/>
</p:tagLst>
</file>

<file path=ppt/tags/tag214.xml><?xml version="1.0" encoding="utf-8"?>
<p:tagLst xmlns:p="http://schemas.openxmlformats.org/presentationml/2006/main">
  <p:tag name="KSO_WM_UNIT_INDEX" val="1_1_1"/>
  <p:tag name="KSO_WM_UNIT_TYPE" val="l_h_f"/>
  <p:tag name="KSO_WM_UNIT_SUBTYPE" val="a"/>
  <p:tag name="KSO_WM_TEMPLATE_CATEGORY" val="diagram"/>
  <p:tag name="KSO_WM_TEMPLATE_INDEX" val="19882022"/>
  <p:tag name="KSO_WM_UNIT_ID" val="diagram19882022*l_h_f*1_1_1"/>
  <p:tag name="KSO_WM_DIAGRAM_GROUP_CODE" val="l1-1"/>
  <p:tag name="KSO_WM_TAG_VERSION" val="2.0"/>
  <p:tag name="KSO_WM_BEAUTIFY_FLAG" val="#wm#"/>
</p:tagLst>
</file>

<file path=ppt/tags/tag215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</p:tagLst>
</file>

<file path=ppt/tags/tag216.xml><?xml version="1.0" encoding="utf-8"?>
<p:tagLst xmlns:p="http://schemas.openxmlformats.org/presentationml/2006/main">
  <p:tag name="KSO_WM_UNIT_INDEX" val="1_2_1"/>
  <p:tag name="KSO_WM_UNIT_TYPE" val="l_h_f"/>
  <p:tag name="KSO_WM_UNIT_SUBTYPE" val="a"/>
  <p:tag name="KSO_WM_TEMPLATE_CATEGORY" val="diagram"/>
  <p:tag name="KSO_WM_TEMPLATE_INDEX" val="19882022"/>
  <p:tag name="KSO_WM_UNIT_ID" val="diagram19882022*l_h_f*1_2_1"/>
  <p:tag name="KSO_WM_DIAGRAM_GROUP_CODE" val="l1-1"/>
  <p:tag name="KSO_WM_TAG_VERSION" val="2.0"/>
  <p:tag name="KSO_WM_BEAUTIFY_FLAG" val="#wm#"/>
</p:tagLst>
</file>

<file path=ppt/tags/tag217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</p:tagLst>
</file>

<file path=ppt/tags/tag218.xml><?xml version="1.0" encoding="utf-8"?>
<p:tagLst xmlns:p="http://schemas.openxmlformats.org/presentationml/2006/main">
  <p:tag name="KSO_WM_UNIT_TEXT" val="Future Improvement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219.xml><?xml version="1.0" encoding="utf-8"?>
<p:tagLst xmlns:p="http://schemas.openxmlformats.org/presentationml/2006/main">
  <p:tag name="KSO_WM_SLIDE_TYPE" val="text"/>
  <p:tag name="KSO_WM_BEAUTIFY_FLAG" val="#wm#"/>
</p:tagLst>
</file>

<file path=ppt/tags/tag220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62_9*a*1"/>
  <p:tag name="KSO_WM_TEMPLATE_CATEGORY" val="custom"/>
  <p:tag name="KSO_WM_TEMPLATE_INDEX" val="20233462"/>
  <p:tag name="KSO_WM_UNIT_LAYERLEVEL" val="1"/>
  <p:tag name="KSO_WM_TAG_VERSION" val="3.0"/>
  <p:tag name="KSO_WM_BEAUTIFY_FLAG" val="#wm#"/>
  <p:tag name="KSO_WM_UNIT_PRESET_TEXT" val="THANKS"/>
</p:tagLst>
</file>

<file path=ppt/tags/tag221.xml><?xml version="1.0" encoding="utf-8"?>
<p:tagLst xmlns:p="http://schemas.openxmlformats.org/presentationml/2006/main">
  <p:tag name="KSO_WM_SPECIAL_SOURCE" val="bdnull"/>
  <p:tag name="KSO_WM_SLIDE_ID" val="custom20233462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62"/>
  <p:tag name="KSO_WM_SLIDE_LAYOUT" val="a_f"/>
  <p:tag name="KSO_WM_SLIDE_LAYOUT_CNT" val="1_1"/>
  <p:tag name="KSO_WM_SLIDE_THEME_ID" val="3313952"/>
  <p:tag name="KSO_WM_SLIDE_THEME_NAME" val="Black Business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00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615DFF"/>
      </a:accent1>
      <a:accent2>
        <a:srgbClr val="33C6FD"/>
      </a:accent2>
      <a:accent3>
        <a:srgbClr val="6694FC"/>
      </a:accent3>
      <a:accent4>
        <a:srgbClr val="9963FA"/>
      </a:accent4>
      <a:accent5>
        <a:srgbClr val="CC31F9"/>
      </a:accent5>
      <a:accent6>
        <a:srgbClr val="E646C8"/>
      </a:accent6>
      <a:hlink>
        <a:srgbClr val="304FFE"/>
      </a:hlink>
      <a:folHlink>
        <a:srgbClr val="492067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5985</Words>
  <Application>WPS Presentation</Application>
  <PresentationFormat>On-screen Show (4:3)</PresentationFormat>
  <Paragraphs>326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7" baseType="lpstr">
      <vt:lpstr>Arial</vt:lpstr>
      <vt:lpstr>SimSun</vt:lpstr>
      <vt:lpstr>Wingdings</vt:lpstr>
      <vt:lpstr>Arial</vt:lpstr>
      <vt:lpstr>Space Grotesk</vt:lpstr>
      <vt:lpstr>Segoe Print</vt:lpstr>
      <vt:lpstr>Inter</vt:lpstr>
      <vt:lpstr>Inter Bold</vt:lpstr>
      <vt:lpstr>Microsoft YaHei</vt:lpstr>
      <vt:lpstr>Arial Unicode MS</vt:lpstr>
      <vt:lpstr>Calibri</vt:lpstr>
      <vt:lpstr>Office Theme</vt:lpstr>
      <vt:lpstr>1_Office Theme</vt:lpstr>
      <vt:lpstr>INSA CYBERSECURITY   PROJECT</vt:lpstr>
      <vt:lpstr>Project Team Members</vt:lpstr>
      <vt:lpstr>Acknowledgments</vt:lpstr>
      <vt:lpstr>Background</vt:lpstr>
      <vt:lpstr>Project Overview</vt:lpstr>
      <vt:lpstr>Problem Statement</vt:lpstr>
      <vt:lpstr>General Objective</vt:lpstr>
      <vt:lpstr>Specific Objectives</vt:lpstr>
      <vt:lpstr>Project Scope</vt:lpstr>
      <vt:lpstr>Project Limitations</vt:lpstr>
      <vt:lpstr>Development Methodology</vt:lpstr>
      <vt:lpstr>System Architecture Workflow</vt:lpstr>
      <vt:lpstr>Technology Stack Overview</vt:lpstr>
      <vt:lpstr>Scanning &amp; AI Engine</vt:lpstr>
      <vt:lpstr>System Implementation</vt:lpstr>
      <vt:lpstr>Security &amp; Ethical Principles</vt:lpstr>
      <vt:lpstr>Testing &amp; Verification (Auth &amp; Access)</vt:lpstr>
      <vt:lpstr>Testing &amp; Verification (Security &amp; Isolation)</vt:lpstr>
      <vt:lpstr>Challenge: Geographical Distance</vt:lpstr>
      <vt:lpstr>Challenge: Component Integration</vt:lpstr>
      <vt:lpstr>Discussion &amp; Evaluation</vt:lpstr>
      <vt:lpstr>Future Improvements</vt:lpstr>
      <vt:lpstr>Conclusion</vt:lpstr>
      <vt:lpstr>EthioSec Scanner • Cyber Cobra Group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Abel Tilahun Alemu</cp:lastModifiedBy>
  <cp:revision>3</cp:revision>
  <dcterms:created xsi:type="dcterms:W3CDTF">2013-01-27T09:14:00Z</dcterms:created>
  <dcterms:modified xsi:type="dcterms:W3CDTF">2026-10-25T22:19:32Z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2EA805DBB14A4BEC9D56CDA7A470AD0E_12</vt:lpwstr>
  </property>
</Properties>
</file>